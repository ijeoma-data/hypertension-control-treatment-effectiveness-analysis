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314F"/>
        </a:solidFill>
      </p:bgPr>
    </p:bg>
    <p:spTree>
      <p:nvGrpSpPr>
        <p:cNvPr id="1" name=""/>
        <p:cNvGrpSpPr/>
        <p:nvPr/>
      </p:nvGrpSpPr>
      <p:grpSpPr>
        <a:xfrm>
          <a:off x="0" y="0"/>
          <a:ext cx="0" cy="0"/>
          <a:chOff x="0" y="0"/>
          <a:chExt cx="0" cy="0"/>
        </a:xfrm>
      </p:grpSpPr>
      <p:sp>
        <p:nvSpPr>
          <p:cNvPr id="2" name="Shape 0"/>
          <p:cNvSpPr/>
          <p:nvPr/>
        </p:nvSpPr>
        <p:spPr>
          <a:xfrm>
            <a:off x="10469880" y="502920"/>
            <a:ext cx="822960" cy="822960"/>
          </a:xfrm>
          <a:prstGeom prst="ellipse">
            <a:avLst/>
          </a:prstGeom>
          <a:solidFill>
            <a:srgbClr val="3B82C4"/>
          </a:solidFill>
          <a:ln/>
        </p:spPr>
      </p:sp>
      <p:sp>
        <p:nvSpPr>
          <p:cNvPr id="3" name="Text 1"/>
          <p:cNvSpPr/>
          <p:nvPr/>
        </p:nvSpPr>
        <p:spPr>
          <a:xfrm>
            <a:off x="10469880" y="502920"/>
            <a:ext cx="822960" cy="82296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4" name="Text 2"/>
          <p:cNvSpPr/>
          <p:nvPr/>
        </p:nvSpPr>
        <p:spPr>
          <a:xfrm>
            <a:off x="502920" y="2148840"/>
            <a:ext cx="11155680" cy="365760"/>
          </a:xfrm>
          <a:prstGeom prst="rect">
            <a:avLst/>
          </a:prstGeom>
          <a:noFill/>
          <a:ln/>
        </p:spPr>
        <p:txBody>
          <a:bodyPr wrap="square" lIns="0" tIns="0" rIns="0" bIns="0" rtlCol="0" anchor="ctr"/>
          <a:lstStyle/>
          <a:p>
            <a:pPr algn="ctr" indent="0" marL="0">
              <a:buNone/>
            </a:pPr>
            <a:r>
              <a:rPr lang="en-US" sz="1400" b="1" spc="300" kern="0" dirty="0">
                <a:solidFill>
                  <a:srgbClr val="3B82C4"/>
                </a:solidFill>
                <a:latin typeface="Calibri" pitchFamily="34" charset="0"/>
                <a:ea typeface="Calibri" pitchFamily="34" charset="-122"/>
                <a:cs typeface="Calibri" pitchFamily="34" charset="-120"/>
              </a:rPr>
              <a:t>HEALTHCARE ANALYTICS PROJECT</a:t>
            </a:r>
            <a:endParaRPr lang="en-US" sz="1400" dirty="0"/>
          </a:p>
        </p:txBody>
      </p:sp>
      <p:sp>
        <p:nvSpPr>
          <p:cNvPr id="5" name="Text 3"/>
          <p:cNvSpPr/>
          <p:nvPr/>
        </p:nvSpPr>
        <p:spPr>
          <a:xfrm>
            <a:off x="502920" y="2514600"/>
            <a:ext cx="11155680" cy="1554480"/>
          </a:xfrm>
          <a:prstGeom prst="rect">
            <a:avLst/>
          </a:prstGeom>
          <a:noFill/>
          <a:ln/>
        </p:spPr>
        <p:txBody>
          <a:bodyPr wrap="square" lIns="0" tIns="0" rIns="0" bIns="0" rtlCol="0" anchor="ctr"/>
          <a:lstStyle/>
          <a:p>
            <a:pPr algn="ctr" indent="0" marL="0">
              <a:lnSpc>
                <a:spcPct val="105000"/>
              </a:lnSpc>
              <a:buNone/>
            </a:pPr>
            <a:r>
              <a:rPr lang="en-US" sz="4000" b="1" dirty="0">
                <a:solidFill>
                  <a:srgbClr val="FFFFFF"/>
                </a:solidFill>
                <a:latin typeface="Cambria" pitchFamily="34" charset="0"/>
                <a:ea typeface="Cambria" pitchFamily="34" charset="-122"/>
                <a:cs typeface="Cambria" pitchFamily="34" charset="-120"/>
              </a:rPr>
              <a:t>Hypertension Control &amp; Treatment</a:t>
            </a:r>
            <a:endParaRPr lang="en-US" sz="4000" dirty="0"/>
          </a:p>
          <a:p>
            <a:pPr algn="ctr" indent="0" marL="0">
              <a:lnSpc>
                <a:spcPct val="105000"/>
              </a:lnSpc>
              <a:buNone/>
            </a:pPr>
            <a:r>
              <a:rPr lang="en-US" sz="4000" b="1" dirty="0">
                <a:solidFill>
                  <a:srgbClr val="FFFFFF"/>
                </a:solidFill>
                <a:latin typeface="Cambria" pitchFamily="34" charset="0"/>
                <a:ea typeface="Cambria" pitchFamily="34" charset="-122"/>
                <a:cs typeface="Cambria" pitchFamily="34" charset="-120"/>
              </a:rPr>
              <a:t>Effectiveness Analysis</a:t>
            </a:r>
            <a:endParaRPr lang="en-US" sz="4000" dirty="0"/>
          </a:p>
        </p:txBody>
      </p:sp>
      <p:sp>
        <p:nvSpPr>
          <p:cNvPr id="6" name="Text 4"/>
          <p:cNvSpPr/>
          <p:nvPr/>
        </p:nvSpPr>
        <p:spPr>
          <a:xfrm>
            <a:off x="502920" y="4069080"/>
            <a:ext cx="11155680" cy="457200"/>
          </a:xfrm>
          <a:prstGeom prst="rect">
            <a:avLst/>
          </a:prstGeom>
          <a:noFill/>
          <a:ln/>
        </p:spPr>
        <p:txBody>
          <a:bodyPr wrap="square" lIns="0" tIns="0" rIns="0" bIns="0" rtlCol="0" anchor="ctr"/>
          <a:lstStyle/>
          <a:p>
            <a:pPr algn="ctr" indent="0" marL="0">
              <a:buNone/>
            </a:pPr>
            <a:r>
              <a:rPr lang="en-US" sz="1600" i="1" dirty="0">
                <a:solidFill>
                  <a:srgbClr val="C7D6E5"/>
                </a:solidFill>
                <a:latin typeface="Calibri" pitchFamily="34" charset="0"/>
                <a:ea typeface="Calibri" pitchFamily="34" charset="-122"/>
                <a:cs typeface="Calibri" pitchFamily="34" charset="-120"/>
              </a:rPr>
              <a:t>A Healthcare Analytics Project Using SQL Server and Microsoft Excel</a:t>
            </a:r>
            <a:endParaRPr lang="en-US" sz="1600" dirty="0"/>
          </a:p>
        </p:txBody>
      </p:sp>
      <p:sp>
        <p:nvSpPr>
          <p:cNvPr id="7" name="Shape 5"/>
          <p:cNvSpPr/>
          <p:nvPr/>
        </p:nvSpPr>
        <p:spPr>
          <a:xfrm>
            <a:off x="5257800" y="4892040"/>
            <a:ext cx="1645920" cy="0"/>
          </a:xfrm>
          <a:prstGeom prst="line">
            <a:avLst/>
          </a:prstGeom>
          <a:noFill/>
          <a:ln w="25400">
            <a:solidFill>
              <a:srgbClr val="2E8B57"/>
            </a:solidFill>
            <a:prstDash val="solid"/>
          </a:ln>
        </p:spPr>
      </p:sp>
      <p:sp>
        <p:nvSpPr>
          <p:cNvPr id="8" name="Text 6"/>
          <p:cNvSpPr/>
          <p:nvPr/>
        </p:nvSpPr>
        <p:spPr>
          <a:xfrm>
            <a:off x="502920" y="5166360"/>
            <a:ext cx="1115568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Ijeoma Okeke</a:t>
            </a:r>
            <a:endParaRPr lang="en-US" sz="1800" dirty="0"/>
          </a:p>
        </p:txBody>
      </p:sp>
      <p:sp>
        <p:nvSpPr>
          <p:cNvPr id="9" name="Text 7"/>
          <p:cNvSpPr/>
          <p:nvPr/>
        </p:nvSpPr>
        <p:spPr>
          <a:xfrm>
            <a:off x="502920" y="5532120"/>
            <a:ext cx="11155680" cy="292608"/>
          </a:xfrm>
          <a:prstGeom prst="rect">
            <a:avLst/>
          </a:prstGeom>
          <a:noFill/>
          <a:ln/>
        </p:spPr>
        <p:txBody>
          <a:bodyPr wrap="square" lIns="0" tIns="0" rIns="0" bIns="0" rtlCol="0" anchor="ctr"/>
          <a:lstStyle/>
          <a:p>
            <a:pPr algn="ctr" indent="0" marL="0">
              <a:buNone/>
            </a:pPr>
            <a:r>
              <a:rPr lang="en-US" sz="1300" dirty="0">
                <a:solidFill>
                  <a:srgbClr val="9FB3C4"/>
                </a:solidFill>
                <a:latin typeface="Calibri" pitchFamily="34" charset="0"/>
                <a:ea typeface="Calibri" pitchFamily="34" charset="-122"/>
                <a:cs typeface="Calibri" pitchFamily="34" charset="-120"/>
              </a:rPr>
              <a:t>Healthcare Data Analyst</a:t>
            </a:r>
            <a:endParaRPr lang="en-US" sz="1300" dirty="0"/>
          </a:p>
        </p:txBody>
      </p:sp>
      <p:sp>
        <p:nvSpPr>
          <p:cNvPr id="10" name="Text 8"/>
          <p:cNvSpPr/>
          <p:nvPr/>
        </p:nvSpPr>
        <p:spPr>
          <a:xfrm>
            <a:off x="502920" y="6172200"/>
            <a:ext cx="11155680" cy="274320"/>
          </a:xfrm>
          <a:prstGeom prst="rect">
            <a:avLst/>
          </a:prstGeom>
          <a:noFill/>
          <a:ln/>
        </p:spPr>
        <p:txBody>
          <a:bodyPr wrap="square" lIns="0" tIns="0" rIns="0" bIns="0" rtlCol="0" anchor="ctr"/>
          <a:lstStyle/>
          <a:p>
            <a:pPr algn="ctr" indent="0" marL="0">
              <a:buNone/>
            </a:pPr>
            <a:r>
              <a:rPr lang="en-US" sz="1200" dirty="0">
                <a:solidFill>
                  <a:srgbClr val="6F86A0"/>
                </a:solidFill>
                <a:latin typeface="Calibri" pitchFamily="34" charset="0"/>
                <a:ea typeface="Calibri" pitchFamily="34" charset="-122"/>
                <a:cs typeface="Calibri" pitchFamily="34" charset="-120"/>
              </a:rPr>
              <a:t>July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02920" y="411480"/>
            <a:ext cx="11155680" cy="640080"/>
          </a:xfrm>
          <a:prstGeom prst="rect">
            <a:avLst/>
          </a:prstGeom>
          <a:noFill/>
          <a:ln/>
        </p:spPr>
        <p:txBody>
          <a:bodyPr wrap="square" lIns="0" tIns="0" rIns="0" bIns="0" rtlCol="0" anchor="ctr"/>
          <a:lstStyle/>
          <a:p>
            <a:pPr algn="l" indent="0" marL="0">
              <a:buNone/>
            </a:pPr>
            <a:r>
              <a:rPr lang="en-US" sz="3200" b="1" dirty="0">
                <a:solidFill>
                  <a:srgbClr val="1B3A5C"/>
                </a:solidFill>
                <a:latin typeface="Cambria" pitchFamily="34" charset="0"/>
                <a:ea typeface="Cambria" pitchFamily="34" charset="-122"/>
                <a:cs typeface="Cambria" pitchFamily="34" charset="-120"/>
              </a:rPr>
              <a:t>Project Overview</a:t>
            </a:r>
            <a:endParaRPr lang="en-US" sz="3200" dirty="0"/>
          </a:p>
        </p:txBody>
      </p:sp>
      <p:sp>
        <p:nvSpPr>
          <p:cNvPr id="3" name="Shape 1"/>
          <p:cNvSpPr/>
          <p:nvPr/>
        </p:nvSpPr>
        <p:spPr>
          <a:xfrm>
            <a:off x="10469880" y="411480"/>
            <a:ext cx="777240" cy="777240"/>
          </a:xfrm>
          <a:prstGeom prst="ellipse">
            <a:avLst/>
          </a:prstGeom>
          <a:solidFill>
            <a:srgbClr val="3B82C4"/>
          </a:solidFill>
          <a:ln/>
        </p:spPr>
      </p:sp>
      <p:sp>
        <p:nvSpPr>
          <p:cNvPr id="4" name="Text 2"/>
          <p:cNvSpPr/>
          <p:nvPr/>
        </p:nvSpPr>
        <p:spPr>
          <a:xfrm>
            <a:off x="10469880" y="411480"/>
            <a:ext cx="777240" cy="77724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i</a:t>
            </a:r>
            <a:endParaRPr lang="en-US" sz="2600" dirty="0"/>
          </a:p>
        </p:txBody>
      </p:sp>
      <p:sp>
        <p:nvSpPr>
          <p:cNvPr id="5" name="Shape 3"/>
          <p:cNvSpPr/>
          <p:nvPr/>
        </p:nvSpPr>
        <p:spPr>
          <a:xfrm>
            <a:off x="502920" y="1737360"/>
            <a:ext cx="11155680" cy="4114800"/>
          </a:xfrm>
          <a:prstGeom prst="rect">
            <a:avLst>
              <a:gd name="adj" fmla="val 1778"/>
            </a:avLst>
          </a:prstGeom>
          <a:solidFill>
            <a:srgbClr val="FFFFFF"/>
          </a:solidFill>
          <a:ln w="12700">
            <a:solidFill>
              <a:srgbClr val="D7DEE5"/>
            </a:solidFill>
            <a:prstDash val="solid"/>
          </a:ln>
          <a:effectLst>
            <a:outerShdw sx="100000" sy="100000" kx="0" ky="0" algn="bl" rotWithShape="0" blurRad="76200" dist="25400" dir="5400000">
              <a:srgbClr val="1B3A5C">
                <a:alpha val="18000"/>
              </a:srgbClr>
            </a:outerShdw>
          </a:effectLst>
        </p:spPr>
      </p:sp>
      <p:sp>
        <p:nvSpPr>
          <p:cNvPr id="6" name="Text 4"/>
          <p:cNvSpPr/>
          <p:nvPr/>
        </p:nvSpPr>
        <p:spPr>
          <a:xfrm>
            <a:off x="960120" y="2057400"/>
            <a:ext cx="10241280" cy="1554480"/>
          </a:xfrm>
          <a:prstGeom prst="rect">
            <a:avLst/>
          </a:prstGeom>
          <a:noFill/>
          <a:ln/>
        </p:spPr>
        <p:txBody>
          <a:bodyPr wrap="square" lIns="0" tIns="0" rIns="0" bIns="0" rtlCol="0" anchor="ctr"/>
          <a:lstStyle/>
          <a:p>
            <a:pPr algn="l" indent="0" marL="0">
              <a:lnSpc>
                <a:spcPct val="130000"/>
              </a:lnSpc>
              <a:buNone/>
            </a:pPr>
            <a:r>
              <a:rPr lang="en-US" sz="1600" dirty="0">
                <a:solidFill>
                  <a:srgbClr val="4A5A68"/>
                </a:solidFill>
                <a:latin typeface="Calibri" pitchFamily="34" charset="0"/>
                <a:ea typeface="Calibri" pitchFamily="34" charset="-122"/>
                <a:cs typeface="Calibri" pitchFamily="34" charset="-120"/>
              </a:rPr>
              <a:t>Hypertension is one of the leading risk factors for cardiovascular disease worldwide. Monitoring treatment outcomes and identifying factors associated with blood pressure control can help healthcare providers make informed decisions and improve patient care.</a:t>
            </a:r>
            <a:endParaRPr lang="en-US" sz="1600" dirty="0"/>
          </a:p>
        </p:txBody>
      </p:sp>
      <p:sp>
        <p:nvSpPr>
          <p:cNvPr id="7" name="Text 5"/>
          <p:cNvSpPr/>
          <p:nvPr/>
        </p:nvSpPr>
        <p:spPr>
          <a:xfrm>
            <a:off x="960120" y="3703320"/>
            <a:ext cx="10241280" cy="1828800"/>
          </a:xfrm>
          <a:prstGeom prst="rect">
            <a:avLst/>
          </a:prstGeom>
          <a:noFill/>
          <a:ln/>
        </p:spPr>
        <p:txBody>
          <a:bodyPr wrap="square" lIns="0" tIns="0" rIns="0" bIns="0" rtlCol="0" anchor="ctr"/>
          <a:lstStyle/>
          <a:p>
            <a:pPr algn="l" indent="0" marL="0">
              <a:lnSpc>
                <a:spcPct val="130000"/>
              </a:lnSpc>
              <a:buNone/>
            </a:pPr>
            <a:r>
              <a:rPr lang="en-US" sz="1600" b="1" dirty="0">
                <a:solidFill>
                  <a:srgbClr val="1B3A5C"/>
                </a:solidFill>
                <a:latin typeface="Calibri" pitchFamily="34" charset="0"/>
                <a:ea typeface="Calibri" pitchFamily="34" charset="-122"/>
                <a:cs typeface="Calibri" pitchFamily="34" charset="-120"/>
              </a:rPr>
              <a:t>This project analyzes hypertension patient data to evaluate treatment effectiveness, medication adherence, and blood pressure control outcomes. Using SQL Server for data preparation and Microsoft Excel for interactive visualization, the project transforms raw clinical data into actionable insights.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02920" y="411480"/>
            <a:ext cx="11155680" cy="640080"/>
          </a:xfrm>
          <a:prstGeom prst="rect">
            <a:avLst/>
          </a:prstGeom>
          <a:noFill/>
          <a:ln/>
        </p:spPr>
        <p:txBody>
          <a:bodyPr wrap="square" lIns="0" tIns="0" rIns="0" bIns="0" rtlCol="0" anchor="ctr"/>
          <a:lstStyle/>
          <a:p>
            <a:pPr algn="l" indent="0" marL="0">
              <a:buNone/>
            </a:pPr>
            <a:r>
              <a:rPr lang="en-US" sz="3200" b="1" dirty="0">
                <a:solidFill>
                  <a:srgbClr val="1B3A5C"/>
                </a:solidFill>
                <a:latin typeface="Cambria" pitchFamily="34" charset="0"/>
                <a:ea typeface="Cambria" pitchFamily="34" charset="-122"/>
                <a:cs typeface="Cambria" pitchFamily="34" charset="-120"/>
              </a:rPr>
              <a:t>Project Objectives</a:t>
            </a:r>
            <a:endParaRPr lang="en-US" sz="3200" dirty="0"/>
          </a:p>
        </p:txBody>
      </p:sp>
      <p:sp>
        <p:nvSpPr>
          <p:cNvPr id="3" name="Shape 1"/>
          <p:cNvSpPr/>
          <p:nvPr/>
        </p:nvSpPr>
        <p:spPr>
          <a:xfrm>
            <a:off x="502920" y="1828800"/>
            <a:ext cx="5394960" cy="1417320"/>
          </a:xfrm>
          <a:prstGeom prst="rect">
            <a:avLst>
              <a:gd name="adj" fmla="val 4516"/>
            </a:avLst>
          </a:prstGeom>
          <a:solidFill>
            <a:srgbClr val="FFFFFF"/>
          </a:solidFill>
          <a:ln w="12700">
            <a:solidFill>
              <a:srgbClr val="D7DEE5"/>
            </a:solidFill>
            <a:prstDash val="solid"/>
          </a:ln>
          <a:effectLst>
            <a:outerShdw sx="100000" sy="100000" kx="0" ky="0" algn="bl" rotWithShape="0" blurRad="76200" dist="25400" dir="5400000">
              <a:srgbClr val="1B3A5C">
                <a:alpha val="18000"/>
              </a:srgbClr>
            </a:outerShdw>
          </a:effectLst>
        </p:spPr>
      </p:sp>
      <p:sp>
        <p:nvSpPr>
          <p:cNvPr id="4" name="Shape 2"/>
          <p:cNvSpPr/>
          <p:nvPr/>
        </p:nvSpPr>
        <p:spPr>
          <a:xfrm>
            <a:off x="758952" y="2244852"/>
            <a:ext cx="585216" cy="585216"/>
          </a:xfrm>
          <a:prstGeom prst="ellipse">
            <a:avLst/>
          </a:prstGeom>
          <a:solidFill>
            <a:srgbClr val="3B82C4"/>
          </a:solidFill>
          <a:ln/>
        </p:spPr>
      </p:sp>
      <p:sp>
        <p:nvSpPr>
          <p:cNvPr id="5" name="Text 3"/>
          <p:cNvSpPr/>
          <p:nvPr/>
        </p:nvSpPr>
        <p:spPr>
          <a:xfrm>
            <a:off x="758952" y="224485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Text 4"/>
          <p:cNvSpPr/>
          <p:nvPr/>
        </p:nvSpPr>
        <p:spPr>
          <a:xfrm>
            <a:off x="1554480" y="1965960"/>
            <a:ext cx="4114800" cy="1143000"/>
          </a:xfrm>
          <a:prstGeom prst="rect">
            <a:avLst/>
          </a:prstGeom>
          <a:noFill/>
          <a:ln/>
        </p:spPr>
        <p:txBody>
          <a:bodyPr wrap="square" lIns="0" tIns="0" rIns="0" bIns="0" rtlCol="0" anchor="ctr"/>
          <a:lstStyle/>
          <a:p>
            <a:pPr algn="l" indent="0" marL="0">
              <a:lnSpc>
                <a:spcPct val="115000"/>
              </a:lnSpc>
              <a:buNone/>
            </a:pPr>
            <a:r>
              <a:rPr lang="en-US" sz="1450" dirty="0">
                <a:solidFill>
                  <a:srgbClr val="1B3A5C"/>
                </a:solidFill>
                <a:latin typeface="Calibri" pitchFamily="34" charset="0"/>
                <a:ea typeface="Calibri" pitchFamily="34" charset="-122"/>
                <a:cs typeface="Calibri" pitchFamily="34" charset="-120"/>
              </a:rPr>
              <a:t>Analyze hypertension treatment outcomes.</a:t>
            </a:r>
            <a:endParaRPr lang="en-US" sz="1450" dirty="0"/>
          </a:p>
        </p:txBody>
      </p:sp>
      <p:sp>
        <p:nvSpPr>
          <p:cNvPr id="7" name="Shape 5"/>
          <p:cNvSpPr/>
          <p:nvPr/>
        </p:nvSpPr>
        <p:spPr>
          <a:xfrm>
            <a:off x="6263640" y="1828800"/>
            <a:ext cx="5394960" cy="1417320"/>
          </a:xfrm>
          <a:prstGeom prst="rect">
            <a:avLst>
              <a:gd name="adj" fmla="val 4516"/>
            </a:avLst>
          </a:prstGeom>
          <a:solidFill>
            <a:srgbClr val="FFFFFF"/>
          </a:solidFill>
          <a:ln w="12700">
            <a:solidFill>
              <a:srgbClr val="D7DEE5"/>
            </a:solidFill>
            <a:prstDash val="solid"/>
          </a:ln>
          <a:effectLst>
            <a:outerShdw sx="100000" sy="100000" kx="0" ky="0" algn="bl" rotWithShape="0" blurRad="76200" dist="25400" dir="5400000">
              <a:srgbClr val="1B3A5C">
                <a:alpha val="18000"/>
              </a:srgbClr>
            </a:outerShdw>
          </a:effectLst>
        </p:spPr>
      </p:sp>
      <p:sp>
        <p:nvSpPr>
          <p:cNvPr id="8" name="Shape 6"/>
          <p:cNvSpPr/>
          <p:nvPr/>
        </p:nvSpPr>
        <p:spPr>
          <a:xfrm>
            <a:off x="6519672" y="2244852"/>
            <a:ext cx="585216" cy="585216"/>
          </a:xfrm>
          <a:prstGeom prst="ellipse">
            <a:avLst/>
          </a:prstGeom>
          <a:solidFill>
            <a:srgbClr val="2E8B57"/>
          </a:solidFill>
          <a:ln/>
        </p:spPr>
      </p:sp>
      <p:sp>
        <p:nvSpPr>
          <p:cNvPr id="9" name="Text 7"/>
          <p:cNvSpPr/>
          <p:nvPr/>
        </p:nvSpPr>
        <p:spPr>
          <a:xfrm>
            <a:off x="6519672" y="224485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0" name="Text 8"/>
          <p:cNvSpPr/>
          <p:nvPr/>
        </p:nvSpPr>
        <p:spPr>
          <a:xfrm>
            <a:off x="7315200" y="1965960"/>
            <a:ext cx="4114800" cy="1143000"/>
          </a:xfrm>
          <a:prstGeom prst="rect">
            <a:avLst/>
          </a:prstGeom>
          <a:noFill/>
          <a:ln/>
        </p:spPr>
        <p:txBody>
          <a:bodyPr wrap="square" lIns="0" tIns="0" rIns="0" bIns="0" rtlCol="0" anchor="ctr"/>
          <a:lstStyle/>
          <a:p>
            <a:pPr algn="l" indent="0" marL="0">
              <a:lnSpc>
                <a:spcPct val="115000"/>
              </a:lnSpc>
              <a:buNone/>
            </a:pPr>
            <a:r>
              <a:rPr lang="en-US" sz="1450" dirty="0">
                <a:solidFill>
                  <a:srgbClr val="1B3A5C"/>
                </a:solidFill>
                <a:latin typeface="Calibri" pitchFamily="34" charset="0"/>
                <a:ea typeface="Calibri" pitchFamily="34" charset="-122"/>
                <a:cs typeface="Calibri" pitchFamily="34" charset="-120"/>
              </a:rPr>
              <a:t>Assess blood pressure control rates among patients.</a:t>
            </a:r>
            <a:endParaRPr lang="en-US" sz="1450" dirty="0"/>
          </a:p>
        </p:txBody>
      </p:sp>
      <p:sp>
        <p:nvSpPr>
          <p:cNvPr id="11" name="Shape 9"/>
          <p:cNvSpPr/>
          <p:nvPr/>
        </p:nvSpPr>
        <p:spPr>
          <a:xfrm>
            <a:off x="502920" y="3383280"/>
            <a:ext cx="5394960" cy="1417320"/>
          </a:xfrm>
          <a:prstGeom prst="rect">
            <a:avLst>
              <a:gd name="adj" fmla="val 4516"/>
            </a:avLst>
          </a:prstGeom>
          <a:solidFill>
            <a:srgbClr val="FFFFFF"/>
          </a:solidFill>
          <a:ln w="12700">
            <a:solidFill>
              <a:srgbClr val="D7DEE5"/>
            </a:solidFill>
            <a:prstDash val="solid"/>
          </a:ln>
          <a:effectLst>
            <a:outerShdw sx="100000" sy="100000" kx="0" ky="0" algn="bl" rotWithShape="0" blurRad="76200" dist="25400" dir="5400000">
              <a:srgbClr val="1B3A5C">
                <a:alpha val="18000"/>
              </a:srgbClr>
            </a:outerShdw>
          </a:effectLst>
        </p:spPr>
      </p:sp>
      <p:sp>
        <p:nvSpPr>
          <p:cNvPr id="12" name="Shape 10"/>
          <p:cNvSpPr/>
          <p:nvPr/>
        </p:nvSpPr>
        <p:spPr>
          <a:xfrm>
            <a:off x="758952" y="3799332"/>
            <a:ext cx="585216" cy="585216"/>
          </a:xfrm>
          <a:prstGeom prst="ellipse">
            <a:avLst/>
          </a:prstGeom>
          <a:solidFill>
            <a:srgbClr val="D9534F"/>
          </a:solidFill>
          <a:ln/>
        </p:spPr>
      </p:sp>
      <p:sp>
        <p:nvSpPr>
          <p:cNvPr id="13" name="Text 11"/>
          <p:cNvSpPr/>
          <p:nvPr/>
        </p:nvSpPr>
        <p:spPr>
          <a:xfrm>
            <a:off x="758952" y="379933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4" name="Text 12"/>
          <p:cNvSpPr/>
          <p:nvPr/>
        </p:nvSpPr>
        <p:spPr>
          <a:xfrm>
            <a:off x="1554480" y="3520440"/>
            <a:ext cx="4114800" cy="1143000"/>
          </a:xfrm>
          <a:prstGeom prst="rect">
            <a:avLst/>
          </a:prstGeom>
          <a:noFill/>
          <a:ln/>
        </p:spPr>
        <p:txBody>
          <a:bodyPr wrap="square" lIns="0" tIns="0" rIns="0" bIns="0" rtlCol="0" anchor="ctr"/>
          <a:lstStyle/>
          <a:p>
            <a:pPr algn="l" indent="0" marL="0">
              <a:lnSpc>
                <a:spcPct val="115000"/>
              </a:lnSpc>
              <a:buNone/>
            </a:pPr>
            <a:r>
              <a:rPr lang="en-US" sz="1450" dirty="0">
                <a:solidFill>
                  <a:srgbClr val="1B3A5C"/>
                </a:solidFill>
                <a:latin typeface="Calibri" pitchFamily="34" charset="0"/>
                <a:ea typeface="Calibri" pitchFamily="34" charset="-122"/>
                <a:cs typeface="Calibri" pitchFamily="34" charset="-120"/>
              </a:rPr>
              <a:t>Evaluate the relationship between medication adherence and BP control.</a:t>
            </a:r>
            <a:endParaRPr lang="en-US" sz="1450" dirty="0"/>
          </a:p>
        </p:txBody>
      </p:sp>
      <p:sp>
        <p:nvSpPr>
          <p:cNvPr id="15" name="Shape 13"/>
          <p:cNvSpPr/>
          <p:nvPr/>
        </p:nvSpPr>
        <p:spPr>
          <a:xfrm>
            <a:off x="6263640" y="3383280"/>
            <a:ext cx="5394960" cy="1417320"/>
          </a:xfrm>
          <a:prstGeom prst="rect">
            <a:avLst>
              <a:gd name="adj" fmla="val 4516"/>
            </a:avLst>
          </a:prstGeom>
          <a:solidFill>
            <a:srgbClr val="FFFFFF"/>
          </a:solidFill>
          <a:ln w="12700">
            <a:solidFill>
              <a:srgbClr val="D7DEE5"/>
            </a:solidFill>
            <a:prstDash val="solid"/>
          </a:ln>
          <a:effectLst>
            <a:outerShdw sx="100000" sy="100000" kx="0" ky="0" algn="bl" rotWithShape="0" blurRad="76200" dist="25400" dir="5400000">
              <a:srgbClr val="1B3A5C">
                <a:alpha val="18000"/>
              </a:srgbClr>
            </a:outerShdw>
          </a:effectLst>
        </p:spPr>
      </p:sp>
      <p:sp>
        <p:nvSpPr>
          <p:cNvPr id="16" name="Shape 14"/>
          <p:cNvSpPr/>
          <p:nvPr/>
        </p:nvSpPr>
        <p:spPr>
          <a:xfrm>
            <a:off x="6519672" y="3799332"/>
            <a:ext cx="585216" cy="585216"/>
          </a:xfrm>
          <a:prstGeom prst="ellipse">
            <a:avLst/>
          </a:prstGeom>
          <a:solidFill>
            <a:srgbClr val="2C3E50"/>
          </a:solidFill>
          <a:ln/>
        </p:spPr>
      </p:sp>
      <p:sp>
        <p:nvSpPr>
          <p:cNvPr id="17" name="Text 15"/>
          <p:cNvSpPr/>
          <p:nvPr/>
        </p:nvSpPr>
        <p:spPr>
          <a:xfrm>
            <a:off x="6519672" y="379933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8" name="Text 16"/>
          <p:cNvSpPr/>
          <p:nvPr/>
        </p:nvSpPr>
        <p:spPr>
          <a:xfrm>
            <a:off x="7315200" y="3520440"/>
            <a:ext cx="4114800" cy="1143000"/>
          </a:xfrm>
          <a:prstGeom prst="rect">
            <a:avLst/>
          </a:prstGeom>
          <a:noFill/>
          <a:ln/>
        </p:spPr>
        <p:txBody>
          <a:bodyPr wrap="square" lIns="0" tIns="0" rIns="0" bIns="0" rtlCol="0" anchor="ctr"/>
          <a:lstStyle/>
          <a:p>
            <a:pPr algn="l" indent="0" marL="0">
              <a:lnSpc>
                <a:spcPct val="115000"/>
              </a:lnSpc>
              <a:buNone/>
            </a:pPr>
            <a:r>
              <a:rPr lang="en-US" sz="1450" dirty="0">
                <a:solidFill>
                  <a:srgbClr val="1B3A5C"/>
                </a:solidFill>
                <a:latin typeface="Calibri" pitchFamily="34" charset="0"/>
                <a:ea typeface="Calibri" pitchFamily="34" charset="-122"/>
                <a:cs typeface="Calibri" pitchFamily="34" charset="-120"/>
              </a:rPr>
              <a:t>Compare the effectiveness of different antihypertensive drug classes.</a:t>
            </a:r>
            <a:endParaRPr lang="en-US" sz="1450" dirty="0"/>
          </a:p>
        </p:txBody>
      </p:sp>
      <p:sp>
        <p:nvSpPr>
          <p:cNvPr id="19" name="Shape 17"/>
          <p:cNvSpPr/>
          <p:nvPr/>
        </p:nvSpPr>
        <p:spPr>
          <a:xfrm>
            <a:off x="502920" y="4937760"/>
            <a:ext cx="5394960" cy="1417320"/>
          </a:xfrm>
          <a:prstGeom prst="rect">
            <a:avLst>
              <a:gd name="adj" fmla="val 4516"/>
            </a:avLst>
          </a:prstGeom>
          <a:solidFill>
            <a:srgbClr val="FFFFFF"/>
          </a:solidFill>
          <a:ln w="12700">
            <a:solidFill>
              <a:srgbClr val="D7DEE5"/>
            </a:solidFill>
            <a:prstDash val="solid"/>
          </a:ln>
          <a:effectLst>
            <a:outerShdw sx="100000" sy="100000" kx="0" ky="0" algn="bl" rotWithShape="0" blurRad="76200" dist="25400" dir="5400000">
              <a:srgbClr val="1B3A5C">
                <a:alpha val="18000"/>
              </a:srgbClr>
            </a:outerShdw>
          </a:effectLst>
        </p:spPr>
      </p:sp>
      <p:sp>
        <p:nvSpPr>
          <p:cNvPr id="20" name="Shape 18"/>
          <p:cNvSpPr/>
          <p:nvPr/>
        </p:nvSpPr>
        <p:spPr>
          <a:xfrm>
            <a:off x="758952" y="5353812"/>
            <a:ext cx="585216" cy="585216"/>
          </a:xfrm>
          <a:prstGeom prst="ellipse">
            <a:avLst/>
          </a:prstGeom>
          <a:solidFill>
            <a:srgbClr val="3B82C4"/>
          </a:solidFill>
          <a:ln/>
        </p:spPr>
      </p:sp>
      <p:sp>
        <p:nvSpPr>
          <p:cNvPr id="21" name="Text 19"/>
          <p:cNvSpPr/>
          <p:nvPr/>
        </p:nvSpPr>
        <p:spPr>
          <a:xfrm>
            <a:off x="758952" y="535381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22" name="Text 20"/>
          <p:cNvSpPr/>
          <p:nvPr/>
        </p:nvSpPr>
        <p:spPr>
          <a:xfrm>
            <a:off x="1554480" y="5074920"/>
            <a:ext cx="4114800" cy="1143000"/>
          </a:xfrm>
          <a:prstGeom prst="rect">
            <a:avLst/>
          </a:prstGeom>
          <a:noFill/>
          <a:ln/>
        </p:spPr>
        <p:txBody>
          <a:bodyPr wrap="square" lIns="0" tIns="0" rIns="0" bIns="0" rtlCol="0" anchor="ctr"/>
          <a:lstStyle/>
          <a:p>
            <a:pPr algn="l" indent="0" marL="0">
              <a:lnSpc>
                <a:spcPct val="115000"/>
              </a:lnSpc>
              <a:buNone/>
            </a:pPr>
            <a:r>
              <a:rPr lang="en-US" sz="1450" dirty="0">
                <a:solidFill>
                  <a:srgbClr val="1B3A5C"/>
                </a:solidFill>
                <a:latin typeface="Calibri" pitchFamily="34" charset="0"/>
                <a:ea typeface="Calibri" pitchFamily="34" charset="-122"/>
                <a:cs typeface="Calibri" pitchFamily="34" charset="-120"/>
              </a:rPr>
              <a:t>Measure changes in systolic blood pressure after treatment.</a:t>
            </a:r>
            <a:endParaRPr lang="en-US" sz="1450" dirty="0"/>
          </a:p>
        </p:txBody>
      </p:sp>
      <p:sp>
        <p:nvSpPr>
          <p:cNvPr id="23" name="Shape 21"/>
          <p:cNvSpPr/>
          <p:nvPr/>
        </p:nvSpPr>
        <p:spPr>
          <a:xfrm>
            <a:off x="6263640" y="4937760"/>
            <a:ext cx="5394960" cy="1417320"/>
          </a:xfrm>
          <a:prstGeom prst="rect">
            <a:avLst>
              <a:gd name="adj" fmla="val 4516"/>
            </a:avLst>
          </a:prstGeom>
          <a:solidFill>
            <a:srgbClr val="FFFFFF"/>
          </a:solidFill>
          <a:ln w="12700">
            <a:solidFill>
              <a:srgbClr val="D7DEE5"/>
            </a:solidFill>
            <a:prstDash val="solid"/>
          </a:ln>
          <a:effectLst>
            <a:outerShdw sx="100000" sy="100000" kx="0" ky="0" algn="bl" rotWithShape="0" blurRad="76200" dist="25400" dir="5400000">
              <a:srgbClr val="1B3A5C">
                <a:alpha val="18000"/>
              </a:srgbClr>
            </a:outerShdw>
          </a:effectLst>
        </p:spPr>
      </p:sp>
      <p:sp>
        <p:nvSpPr>
          <p:cNvPr id="24" name="Shape 22"/>
          <p:cNvSpPr/>
          <p:nvPr/>
        </p:nvSpPr>
        <p:spPr>
          <a:xfrm>
            <a:off x="6519672" y="5353812"/>
            <a:ext cx="585216" cy="585216"/>
          </a:xfrm>
          <a:prstGeom prst="ellipse">
            <a:avLst/>
          </a:prstGeom>
          <a:solidFill>
            <a:srgbClr val="2E8B57"/>
          </a:solidFill>
          <a:ln/>
        </p:spPr>
      </p:sp>
      <p:sp>
        <p:nvSpPr>
          <p:cNvPr id="25" name="Text 23"/>
          <p:cNvSpPr/>
          <p:nvPr/>
        </p:nvSpPr>
        <p:spPr>
          <a:xfrm>
            <a:off x="6519672" y="535381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6</a:t>
            </a:r>
            <a:endParaRPr lang="en-US" sz="2000" dirty="0"/>
          </a:p>
        </p:txBody>
      </p:sp>
      <p:sp>
        <p:nvSpPr>
          <p:cNvPr id="26" name="Text 24"/>
          <p:cNvSpPr/>
          <p:nvPr/>
        </p:nvSpPr>
        <p:spPr>
          <a:xfrm>
            <a:off x="7315200" y="5074920"/>
            <a:ext cx="4114800" cy="1143000"/>
          </a:xfrm>
          <a:prstGeom prst="rect">
            <a:avLst/>
          </a:prstGeom>
          <a:noFill/>
          <a:ln/>
        </p:spPr>
        <p:txBody>
          <a:bodyPr wrap="square" lIns="0" tIns="0" rIns="0" bIns="0" rtlCol="0" anchor="ctr"/>
          <a:lstStyle/>
          <a:p>
            <a:pPr algn="l" indent="0" marL="0">
              <a:lnSpc>
                <a:spcPct val="115000"/>
              </a:lnSpc>
              <a:buNone/>
            </a:pPr>
            <a:r>
              <a:rPr lang="en-US" sz="1450" dirty="0">
                <a:solidFill>
                  <a:srgbClr val="1B3A5C"/>
                </a:solidFill>
                <a:latin typeface="Calibri" pitchFamily="34" charset="0"/>
                <a:ea typeface="Calibri" pitchFamily="34" charset="-122"/>
                <a:cs typeface="Calibri" pitchFamily="34" charset="-120"/>
              </a:rPr>
              <a:t>Present findings through an interactive Excel dashboard.</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02920" y="411480"/>
            <a:ext cx="11155680" cy="640080"/>
          </a:xfrm>
          <a:prstGeom prst="rect">
            <a:avLst/>
          </a:prstGeom>
          <a:noFill/>
          <a:ln/>
        </p:spPr>
        <p:txBody>
          <a:bodyPr wrap="square" lIns="0" tIns="0" rIns="0" bIns="0" rtlCol="0" anchor="ctr"/>
          <a:lstStyle/>
          <a:p>
            <a:pPr algn="l" indent="0" marL="0">
              <a:buNone/>
            </a:pPr>
            <a:r>
              <a:rPr lang="en-US" sz="3200" b="1" dirty="0">
                <a:solidFill>
                  <a:srgbClr val="1B3A5C"/>
                </a:solidFill>
                <a:latin typeface="Cambria" pitchFamily="34" charset="0"/>
                <a:ea typeface="Cambria" pitchFamily="34" charset="-122"/>
                <a:cs typeface="Cambria" pitchFamily="34" charset="-120"/>
              </a:rPr>
              <a:t>Dataset Overview</a:t>
            </a:r>
            <a:endParaRPr lang="en-US" sz="3200" dirty="0"/>
          </a:p>
        </p:txBody>
      </p:sp>
      <p:sp>
        <p:nvSpPr>
          <p:cNvPr id="3" name="Text 1"/>
          <p:cNvSpPr/>
          <p:nvPr/>
        </p:nvSpPr>
        <p:spPr>
          <a:xfrm>
            <a:off x="10789920" y="365760"/>
            <a:ext cx="822960" cy="822960"/>
          </a:xfrm>
          <a:prstGeom prst="rect">
            <a:avLst/>
          </a:prstGeom>
          <a:noFill/>
          <a:ln/>
        </p:spPr>
        <p:txBody>
          <a:bodyPr wrap="square" lIns="0" tIns="0" rIns="0" bIns="0" rtlCol="0" anchor="ctr"/>
          <a:lstStyle/>
          <a:p>
            <a:pPr algn="ctr" indent="0" marL="0">
              <a:buNone/>
            </a:pPr>
            <a:r>
              <a:rPr lang="en-US" sz="3400" dirty="0">
                <a:solidFill>
                  <a:srgbClr val="3B82C4"/>
                </a:solidFill>
              </a:rPr>
              <a:t>🗄</a:t>
            </a:r>
            <a:endParaRPr lang="en-US" sz="3400" dirty="0"/>
          </a:p>
        </p:txBody>
      </p:sp>
      <p:sp>
        <p:nvSpPr>
          <p:cNvPr id="4" name="Text 2"/>
          <p:cNvSpPr/>
          <p:nvPr/>
        </p:nvSpPr>
        <p:spPr>
          <a:xfrm>
            <a:off x="502920" y="1783080"/>
            <a:ext cx="5120640" cy="365760"/>
          </a:xfrm>
          <a:prstGeom prst="rect">
            <a:avLst/>
          </a:prstGeom>
          <a:noFill/>
          <a:ln/>
        </p:spPr>
        <p:txBody>
          <a:bodyPr wrap="square" lIns="0" tIns="0" rIns="0" bIns="0" rtlCol="0" anchor="ctr"/>
          <a:lstStyle/>
          <a:p>
            <a:pPr indent="0" marL="0">
              <a:buNone/>
            </a:pPr>
            <a:r>
              <a:rPr lang="en-US" sz="1800" b="1" dirty="0">
                <a:solidFill>
                  <a:srgbClr val="1B3A5C"/>
                </a:solidFill>
                <a:latin typeface="Cambria" pitchFamily="34" charset="0"/>
                <a:ea typeface="Cambria" pitchFamily="34" charset="-122"/>
                <a:cs typeface="Cambria" pitchFamily="34" charset="-120"/>
              </a:rPr>
              <a:t>Dataset Summary</a:t>
            </a:r>
            <a:endParaRPr lang="en-US" sz="1800" dirty="0"/>
          </a:p>
        </p:txBody>
      </p:sp>
      <p:sp>
        <p:nvSpPr>
          <p:cNvPr id="5" name="Text 3"/>
          <p:cNvSpPr/>
          <p:nvPr/>
        </p:nvSpPr>
        <p:spPr>
          <a:xfrm>
            <a:off x="502920" y="2194560"/>
            <a:ext cx="5120640" cy="2834640"/>
          </a:xfrm>
          <a:prstGeom prst="rect">
            <a:avLst/>
          </a:prstGeom>
          <a:noFill/>
          <a:ln/>
        </p:spPr>
        <p:txBody>
          <a:bodyPr wrap="square" lIns="0" tIns="0" rIns="0" bIns="0" rtlCol="0" anchor="ctr"/>
          <a:lstStyle/>
          <a:p>
            <a:pPr algn="l" indent="0" marL="0">
              <a:lnSpc>
                <a:spcPct val="130000"/>
              </a:lnSpc>
              <a:buNone/>
            </a:pPr>
            <a:r>
              <a:rPr lang="en-US" sz="1400" dirty="0">
                <a:solidFill>
                  <a:srgbClr val="4A5A68"/>
                </a:solidFill>
                <a:latin typeface="Calibri" pitchFamily="34" charset="0"/>
                <a:ea typeface="Calibri" pitchFamily="34" charset="-122"/>
                <a:cs typeface="Calibri" pitchFamily="34" charset="-120"/>
              </a:rPr>
              <a:t>The dataset contains clinical records of 350 hypertension patients who underwent antihypertensive treatment. It includes demographic information, medical conditions, blood pressure measurements before and after treatment, medication adherence, prescribed drug classes, and blood pressure control outcomes.</a:t>
            </a:r>
            <a:endParaRPr lang="en-US" sz="1400" dirty="0"/>
          </a:p>
        </p:txBody>
      </p:sp>
      <p:sp>
        <p:nvSpPr>
          <p:cNvPr id="6" name="Shape 4"/>
          <p:cNvSpPr/>
          <p:nvPr/>
        </p:nvSpPr>
        <p:spPr>
          <a:xfrm>
            <a:off x="502920" y="5257800"/>
            <a:ext cx="5120640" cy="868680"/>
          </a:xfrm>
          <a:prstGeom prst="rect">
            <a:avLst>
              <a:gd name="adj" fmla="val 8421"/>
            </a:avLst>
          </a:prstGeom>
          <a:solidFill>
            <a:srgbClr val="3B82C4"/>
          </a:solidFill>
          <a:ln/>
          <a:effectLst>
            <a:outerShdw sx="100000" sy="100000" kx="0" ky="0" algn="bl" rotWithShape="0" blurRad="76200" dist="25400" dir="5400000">
              <a:srgbClr val="1B3A5C">
                <a:alpha val="18000"/>
              </a:srgbClr>
            </a:outerShdw>
          </a:effectLst>
        </p:spPr>
      </p:sp>
      <p:sp>
        <p:nvSpPr>
          <p:cNvPr id="7" name="Text 5"/>
          <p:cNvSpPr/>
          <p:nvPr/>
        </p:nvSpPr>
        <p:spPr>
          <a:xfrm>
            <a:off x="777240" y="5349240"/>
            <a:ext cx="2743200" cy="274320"/>
          </a:xfrm>
          <a:prstGeom prst="rect">
            <a:avLst/>
          </a:prstGeom>
          <a:noFill/>
          <a:ln/>
        </p:spPr>
        <p:txBody>
          <a:bodyPr wrap="square" lIns="0" tIns="0" rIns="0" bIns="0" rtlCol="0" anchor="ctr"/>
          <a:lstStyle/>
          <a:p>
            <a:pPr indent="0" marL="0">
              <a:buNone/>
            </a:pPr>
            <a:r>
              <a:rPr lang="en-US" sz="1100" b="1" spc="100" kern="0" dirty="0">
                <a:solidFill>
                  <a:srgbClr val="DCEAFB"/>
                </a:solidFill>
                <a:latin typeface="Calibri" pitchFamily="34" charset="0"/>
                <a:ea typeface="Calibri" pitchFamily="34" charset="-122"/>
                <a:cs typeface="Calibri" pitchFamily="34" charset="-120"/>
              </a:rPr>
              <a:t>TOTAL RECORDS</a:t>
            </a:r>
            <a:endParaRPr lang="en-US" sz="1100" dirty="0"/>
          </a:p>
        </p:txBody>
      </p:sp>
      <p:sp>
        <p:nvSpPr>
          <p:cNvPr id="8" name="Text 6"/>
          <p:cNvSpPr/>
          <p:nvPr/>
        </p:nvSpPr>
        <p:spPr>
          <a:xfrm>
            <a:off x="777240" y="5596128"/>
            <a:ext cx="457200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350 Patients</a:t>
            </a:r>
            <a:endParaRPr lang="en-US" sz="2200" dirty="0"/>
          </a:p>
        </p:txBody>
      </p:sp>
      <p:sp>
        <p:nvSpPr>
          <p:cNvPr id="9" name="Text 7"/>
          <p:cNvSpPr/>
          <p:nvPr/>
        </p:nvSpPr>
        <p:spPr>
          <a:xfrm>
            <a:off x="5989320" y="1783080"/>
            <a:ext cx="5669280" cy="365760"/>
          </a:xfrm>
          <a:prstGeom prst="rect">
            <a:avLst/>
          </a:prstGeom>
          <a:noFill/>
          <a:ln/>
        </p:spPr>
        <p:txBody>
          <a:bodyPr wrap="square" lIns="0" tIns="0" rIns="0" bIns="0" rtlCol="0" anchor="ctr"/>
          <a:lstStyle/>
          <a:p>
            <a:pPr indent="0" marL="0">
              <a:buNone/>
            </a:pPr>
            <a:r>
              <a:rPr lang="en-US" sz="1800" b="1" dirty="0">
                <a:solidFill>
                  <a:srgbClr val="1B3A5C"/>
                </a:solidFill>
                <a:latin typeface="Cambria" pitchFamily="34" charset="0"/>
                <a:ea typeface="Cambria" pitchFamily="34" charset="-122"/>
                <a:cs typeface="Cambria" pitchFamily="34" charset="-120"/>
              </a:rPr>
              <a:t>Key Variables</a:t>
            </a:r>
            <a:endParaRPr lang="en-US" sz="1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989320" y="2212848"/>
          <a:ext cx="5669280" cy="914400"/>
        </p:xfrm>
        <a:graphic>
          <a:graphicData uri="http://schemas.openxmlformats.org/drawingml/2006/table">
            <a:tbl>
              <a:tblPr/>
              <a:tblGrid>
                <a:gridCol w="1828800"/>
                <a:gridCol w="3840480"/>
              </a:tblGrid>
              <a:tr h="54864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Category</a:t>
                      </a:r>
                      <a:endParaRPr lang="en-US" sz="1150" dirty="0">
                        <a:latin typeface="Calibri" charset="0"/>
                        <a:ea typeface="Calibri" charset="0"/>
                        <a:cs typeface="Calibri" charset="0"/>
                      </a:endParaRPr>
                    </a:p>
                  </a:txBody>
                  <a:tcPr marL="91440" marR="91440" marT="45720" marB="45720" anchor="ctr">
                    <a:lnL w="9525" cap="flat" cmpd="sng" algn="ctr">
                      <a:solidFill>
                        <a:srgbClr val="D7DEE5"/>
                      </a:solidFill>
                      <a:prstDash val="solid"/>
                      <a:round/>
                      <a:headEnd type="none" w="med" len="med"/>
                      <a:tailEnd type="none" w="med" len="med"/>
                    </a:lnL>
                    <a:lnR w="9525" cap="flat" cmpd="sng" algn="ctr">
                      <a:solidFill>
                        <a:srgbClr val="D7DEE5"/>
                      </a:solidFill>
                      <a:prstDash val="solid"/>
                      <a:round/>
                      <a:headEnd type="none" w="med" len="med"/>
                      <a:tailEnd type="none" w="med" len="med"/>
                    </a:lnR>
                    <a:lnT w="9525" cap="flat" cmpd="sng" algn="ctr">
                      <a:solidFill>
                        <a:srgbClr val="D7DEE5"/>
                      </a:solidFill>
                      <a:prstDash val="solid"/>
                      <a:round/>
                      <a:headEnd type="none" w="med" len="med"/>
                      <a:tailEnd type="none" w="med" len="med"/>
                    </a:lnT>
                    <a:lnB w="9525" cap="flat" cmpd="sng" algn="ctr">
                      <a:solidFill>
                        <a:srgbClr val="D7DEE5"/>
                      </a:solidFill>
                      <a:prstDash val="solid"/>
                      <a:round/>
                      <a:headEnd type="none" w="med" len="med"/>
                      <a:tailEnd type="none" w="med" len="med"/>
                    </a:lnB>
                    <a:solidFill>
                      <a:srgbClr val="1B3A5C"/>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Variables</a:t>
                      </a:r>
                      <a:endParaRPr lang="en-US" sz="1150" dirty="0">
                        <a:latin typeface="Calibri" charset="0"/>
                        <a:ea typeface="Calibri" charset="0"/>
                        <a:cs typeface="Calibri" charset="0"/>
                      </a:endParaRPr>
                    </a:p>
                  </a:txBody>
                  <a:tcPr marL="91440" marR="91440" marT="45720" marB="45720" anchor="ctr">
                    <a:lnL w="9525" cap="flat" cmpd="sng" algn="ctr">
                      <a:solidFill>
                        <a:srgbClr val="D7DEE5"/>
                      </a:solidFill>
                      <a:prstDash val="solid"/>
                      <a:round/>
                      <a:headEnd type="none" w="med" len="med"/>
                      <a:tailEnd type="none" w="med" len="med"/>
                    </a:lnL>
                    <a:lnR w="9525" cap="flat" cmpd="sng" algn="ctr">
                      <a:solidFill>
                        <a:srgbClr val="D7DEE5"/>
                      </a:solidFill>
                      <a:prstDash val="solid"/>
                      <a:round/>
                      <a:headEnd type="none" w="med" len="med"/>
                      <a:tailEnd type="none" w="med" len="med"/>
                    </a:lnR>
                    <a:lnT w="9525" cap="flat" cmpd="sng" algn="ctr">
                      <a:solidFill>
                        <a:srgbClr val="D7DEE5"/>
                      </a:solidFill>
                      <a:prstDash val="solid"/>
                      <a:round/>
                      <a:headEnd type="none" w="med" len="med"/>
                      <a:tailEnd type="none" w="med" len="med"/>
                    </a:lnT>
                    <a:lnB w="9525" cap="flat" cmpd="sng" algn="ctr">
                      <a:solidFill>
                        <a:srgbClr val="D7DEE5"/>
                      </a:solidFill>
                      <a:prstDash val="solid"/>
                      <a:round/>
                      <a:headEnd type="none" w="med" len="med"/>
                      <a:tailEnd type="none" w="med" len="med"/>
                    </a:lnB>
                    <a:solidFill>
                      <a:srgbClr val="1B3A5C"/>
                    </a:solidFill>
                  </a:tcPr>
                </a:tc>
              </a:tr>
              <a:tr h="548640">
                <a:tc>
                  <a:txBody>
                    <a:bodyPr/>
                    <a:lstStyle/>
                    <a:p>
                      <a:pPr algn="l" indent="0" marL="0">
                        <a:buNone/>
                      </a:pPr>
                      <a:r>
                        <a:rPr lang="en-US" sz="1150" b="1" dirty="0">
                          <a:solidFill>
                            <a:srgbClr val="1B3A5C"/>
                          </a:solidFill>
                          <a:latin typeface="Calibri" pitchFamily="34" charset="0"/>
                          <a:ea typeface="Calibri" pitchFamily="34" charset="-122"/>
                          <a:cs typeface="Calibri" pitchFamily="34" charset="-120"/>
                        </a:rPr>
                        <a:t>Patient Information</a:t>
                      </a:r>
                      <a:endParaRPr lang="en-US" sz="1150" dirty="0">
                        <a:latin typeface="Calibri" charset="0"/>
                        <a:ea typeface="Calibri" charset="0"/>
                        <a:cs typeface="Calibri" charset="0"/>
                      </a:endParaRPr>
                    </a:p>
                  </a:txBody>
                  <a:tcPr marL="91440" marR="91440" marT="45720" marB="45720" anchor="ctr">
                    <a:lnL w="9525" cap="flat" cmpd="sng" algn="ctr">
                      <a:solidFill>
                        <a:srgbClr val="D7DEE5"/>
                      </a:solidFill>
                      <a:prstDash val="solid"/>
                      <a:round/>
                      <a:headEnd type="none" w="med" len="med"/>
                      <a:tailEnd type="none" w="med" len="med"/>
                    </a:lnL>
                    <a:lnR w="9525" cap="flat" cmpd="sng" algn="ctr">
                      <a:solidFill>
                        <a:srgbClr val="D7DEE5"/>
                      </a:solidFill>
                      <a:prstDash val="solid"/>
                      <a:round/>
                      <a:headEnd type="none" w="med" len="med"/>
                      <a:tailEnd type="none" w="med" len="med"/>
                    </a:lnR>
                    <a:lnT w="9525" cap="flat" cmpd="sng" algn="ctr">
                      <a:solidFill>
                        <a:srgbClr val="D7DEE5"/>
                      </a:solidFill>
                      <a:prstDash val="solid"/>
                      <a:round/>
                      <a:headEnd type="none" w="med" len="med"/>
                      <a:tailEnd type="none" w="med" len="med"/>
                    </a:lnT>
                    <a:lnB w="9525" cap="flat" cmpd="sng" algn="ctr">
                      <a:solidFill>
                        <a:srgbClr val="D7DEE5"/>
                      </a:solidFill>
                      <a:prstDash val="solid"/>
                      <a:round/>
                      <a:headEnd type="none" w="med" len="med"/>
                      <a:tailEnd type="none" w="med" len="med"/>
                    </a:lnB>
                    <a:solidFill>
                      <a:srgbClr val="EEF2F6"/>
                    </a:solidFill>
                  </a:tcPr>
                </a:tc>
                <a:tc>
                  <a:txBody>
                    <a:bodyPr/>
                    <a:lstStyle/>
                    <a:p>
                      <a:pPr algn="l" indent="0" marL="0">
                        <a:buNone/>
                      </a:pPr>
                      <a:r>
                        <a:rPr lang="en-US" sz="1150" dirty="0">
                          <a:solidFill>
                            <a:srgbClr val="1B3A5C"/>
                          </a:solidFill>
                          <a:latin typeface="Calibri" pitchFamily="34" charset="0"/>
                          <a:ea typeface="Calibri" pitchFamily="34" charset="-122"/>
                          <a:cs typeface="Calibri" pitchFamily="34" charset="-120"/>
                        </a:rPr>
                        <a:t>Patient ID, Age, Gender</a:t>
                      </a:r>
                      <a:endParaRPr lang="en-US" sz="1150" dirty="0">
                        <a:latin typeface="Calibri" charset="0"/>
                        <a:ea typeface="Calibri" charset="0"/>
                        <a:cs typeface="Calibri" charset="0"/>
                      </a:endParaRPr>
                    </a:p>
                  </a:txBody>
                  <a:tcPr marL="91440" marR="91440" marT="45720" marB="45720" anchor="ctr">
                    <a:lnL w="9525" cap="flat" cmpd="sng" algn="ctr">
                      <a:solidFill>
                        <a:srgbClr val="D7DEE5"/>
                      </a:solidFill>
                      <a:prstDash val="solid"/>
                      <a:round/>
                      <a:headEnd type="none" w="med" len="med"/>
                      <a:tailEnd type="none" w="med" len="med"/>
                    </a:lnL>
                    <a:lnR w="9525" cap="flat" cmpd="sng" algn="ctr">
                      <a:solidFill>
                        <a:srgbClr val="D7DEE5"/>
                      </a:solidFill>
                      <a:prstDash val="solid"/>
                      <a:round/>
                      <a:headEnd type="none" w="med" len="med"/>
                      <a:tailEnd type="none" w="med" len="med"/>
                    </a:lnR>
                    <a:lnT w="9525" cap="flat" cmpd="sng" algn="ctr">
                      <a:solidFill>
                        <a:srgbClr val="D7DEE5"/>
                      </a:solidFill>
                      <a:prstDash val="solid"/>
                      <a:round/>
                      <a:headEnd type="none" w="med" len="med"/>
                      <a:tailEnd type="none" w="med" len="med"/>
                    </a:lnT>
                    <a:lnB w="9525" cap="flat" cmpd="sng" algn="ctr">
                      <a:solidFill>
                        <a:srgbClr val="D7DEE5"/>
                      </a:solidFill>
                      <a:prstDash val="solid"/>
                      <a:round/>
                      <a:headEnd type="none" w="med" len="med"/>
                      <a:tailEnd type="none" w="med" len="med"/>
                    </a:lnB>
                    <a:solidFill>
                      <a:srgbClr val="EEF2F6"/>
                    </a:solidFill>
                  </a:tcPr>
                </a:tc>
              </a:tr>
              <a:tr h="548640">
                <a:tc>
                  <a:txBody>
                    <a:bodyPr/>
                    <a:lstStyle/>
                    <a:p>
                      <a:pPr algn="l" indent="0" marL="0">
                        <a:buNone/>
                      </a:pPr>
                      <a:r>
                        <a:rPr lang="en-US" sz="1150" b="1" dirty="0">
                          <a:solidFill>
                            <a:srgbClr val="1B3A5C"/>
                          </a:solidFill>
                          <a:latin typeface="Calibri" pitchFamily="34" charset="0"/>
                          <a:ea typeface="Calibri" pitchFamily="34" charset="-122"/>
                          <a:cs typeface="Calibri" pitchFamily="34" charset="-120"/>
                        </a:rPr>
                        <a:t>Clinical Conditions</a:t>
                      </a:r>
                      <a:endParaRPr lang="en-US" sz="1150" dirty="0">
                        <a:latin typeface="Calibri" charset="0"/>
                        <a:ea typeface="Calibri" charset="0"/>
                        <a:cs typeface="Calibri" charset="0"/>
                      </a:endParaRPr>
                    </a:p>
                  </a:txBody>
                  <a:tcPr marL="91440" marR="91440" marT="45720" marB="45720" anchor="ctr">
                    <a:lnL w="9525" cap="flat" cmpd="sng" algn="ctr">
                      <a:solidFill>
                        <a:srgbClr val="D7DEE5"/>
                      </a:solidFill>
                      <a:prstDash val="solid"/>
                      <a:round/>
                      <a:headEnd type="none" w="med" len="med"/>
                      <a:tailEnd type="none" w="med" len="med"/>
                    </a:lnL>
                    <a:lnR w="9525" cap="flat" cmpd="sng" algn="ctr">
                      <a:solidFill>
                        <a:srgbClr val="D7DEE5"/>
                      </a:solidFill>
                      <a:prstDash val="solid"/>
                      <a:round/>
                      <a:headEnd type="none" w="med" len="med"/>
                      <a:tailEnd type="none" w="med" len="med"/>
                    </a:lnR>
                    <a:lnT w="9525" cap="flat" cmpd="sng" algn="ctr">
                      <a:solidFill>
                        <a:srgbClr val="D7DEE5"/>
                      </a:solidFill>
                      <a:prstDash val="solid"/>
                      <a:round/>
                      <a:headEnd type="none" w="med" len="med"/>
                      <a:tailEnd type="none" w="med" len="med"/>
                    </a:lnT>
                    <a:lnB w="9525" cap="flat" cmpd="sng" algn="ctr">
                      <a:solidFill>
                        <a:srgbClr val="D7DEE5"/>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3A5C"/>
                          </a:solidFill>
                          <a:latin typeface="Calibri" pitchFamily="34" charset="0"/>
                          <a:ea typeface="Calibri" pitchFamily="34" charset="-122"/>
                          <a:cs typeface="Calibri" pitchFamily="34" charset="-120"/>
                        </a:rPr>
                        <a:t>Diabetes, CKD, Obesity, Dyslipidemia</a:t>
                      </a:r>
                      <a:endParaRPr lang="en-US" sz="1150" dirty="0">
                        <a:latin typeface="Calibri" charset="0"/>
                        <a:ea typeface="Calibri" charset="0"/>
                        <a:cs typeface="Calibri" charset="0"/>
                      </a:endParaRPr>
                    </a:p>
                  </a:txBody>
                  <a:tcPr marL="91440" marR="91440" marT="45720" marB="45720" anchor="ctr">
                    <a:lnL w="9525" cap="flat" cmpd="sng" algn="ctr">
                      <a:solidFill>
                        <a:srgbClr val="D7DEE5"/>
                      </a:solidFill>
                      <a:prstDash val="solid"/>
                      <a:round/>
                      <a:headEnd type="none" w="med" len="med"/>
                      <a:tailEnd type="none" w="med" len="med"/>
                    </a:lnL>
                    <a:lnR w="9525" cap="flat" cmpd="sng" algn="ctr">
                      <a:solidFill>
                        <a:srgbClr val="D7DEE5"/>
                      </a:solidFill>
                      <a:prstDash val="solid"/>
                      <a:round/>
                      <a:headEnd type="none" w="med" len="med"/>
                      <a:tailEnd type="none" w="med" len="med"/>
                    </a:lnR>
                    <a:lnT w="9525" cap="flat" cmpd="sng" algn="ctr">
                      <a:solidFill>
                        <a:srgbClr val="D7DEE5"/>
                      </a:solidFill>
                      <a:prstDash val="solid"/>
                      <a:round/>
                      <a:headEnd type="none" w="med" len="med"/>
                      <a:tailEnd type="none" w="med" len="med"/>
                    </a:lnT>
                    <a:lnB w="9525" cap="flat" cmpd="sng" algn="ctr">
                      <a:solidFill>
                        <a:srgbClr val="D7DEE5"/>
                      </a:solidFill>
                      <a:prstDash val="solid"/>
                      <a:round/>
                      <a:headEnd type="none" w="med" len="med"/>
                      <a:tailEnd type="none" w="med" len="med"/>
                    </a:lnB>
                    <a:solidFill>
                      <a:srgbClr val="FFFFFF"/>
                    </a:solidFill>
                  </a:tcPr>
                </a:tc>
              </a:tr>
              <a:tr h="548640">
                <a:tc>
                  <a:txBody>
                    <a:bodyPr/>
                    <a:lstStyle/>
                    <a:p>
                      <a:pPr algn="l" indent="0" marL="0">
                        <a:buNone/>
                      </a:pPr>
                      <a:r>
                        <a:rPr lang="en-US" sz="1150" b="1" dirty="0">
                          <a:solidFill>
                            <a:srgbClr val="1B3A5C"/>
                          </a:solidFill>
                          <a:latin typeface="Calibri" pitchFamily="34" charset="0"/>
                          <a:ea typeface="Calibri" pitchFamily="34" charset="-122"/>
                          <a:cs typeface="Calibri" pitchFamily="34" charset="-120"/>
                        </a:rPr>
                        <a:t>Blood Pressure</a:t>
                      </a:r>
                      <a:endParaRPr lang="en-US" sz="1150" dirty="0">
                        <a:latin typeface="Calibri" charset="0"/>
                        <a:ea typeface="Calibri" charset="0"/>
                        <a:cs typeface="Calibri" charset="0"/>
                      </a:endParaRPr>
                    </a:p>
                  </a:txBody>
                  <a:tcPr marL="91440" marR="91440" marT="45720" marB="45720" anchor="ctr">
                    <a:lnL w="9525" cap="flat" cmpd="sng" algn="ctr">
                      <a:solidFill>
                        <a:srgbClr val="D7DEE5"/>
                      </a:solidFill>
                      <a:prstDash val="solid"/>
                      <a:round/>
                      <a:headEnd type="none" w="med" len="med"/>
                      <a:tailEnd type="none" w="med" len="med"/>
                    </a:lnL>
                    <a:lnR w="9525" cap="flat" cmpd="sng" algn="ctr">
                      <a:solidFill>
                        <a:srgbClr val="D7DEE5"/>
                      </a:solidFill>
                      <a:prstDash val="solid"/>
                      <a:round/>
                      <a:headEnd type="none" w="med" len="med"/>
                      <a:tailEnd type="none" w="med" len="med"/>
                    </a:lnR>
                    <a:lnT w="9525" cap="flat" cmpd="sng" algn="ctr">
                      <a:solidFill>
                        <a:srgbClr val="D7DEE5"/>
                      </a:solidFill>
                      <a:prstDash val="solid"/>
                      <a:round/>
                      <a:headEnd type="none" w="med" len="med"/>
                      <a:tailEnd type="none" w="med" len="med"/>
                    </a:lnT>
                    <a:lnB w="9525" cap="flat" cmpd="sng" algn="ctr">
                      <a:solidFill>
                        <a:srgbClr val="D7DEE5"/>
                      </a:solidFill>
                      <a:prstDash val="solid"/>
                      <a:round/>
                      <a:headEnd type="none" w="med" len="med"/>
                      <a:tailEnd type="none" w="med" len="med"/>
                    </a:lnB>
                    <a:solidFill>
                      <a:srgbClr val="EEF2F6"/>
                    </a:solidFill>
                  </a:tcPr>
                </a:tc>
                <a:tc>
                  <a:txBody>
                    <a:bodyPr/>
                    <a:lstStyle/>
                    <a:p>
                      <a:pPr algn="l" indent="0" marL="0">
                        <a:buNone/>
                      </a:pPr>
                      <a:r>
                        <a:rPr lang="en-US" sz="1150" dirty="0">
                          <a:solidFill>
                            <a:srgbClr val="1B3A5C"/>
                          </a:solidFill>
                          <a:latin typeface="Calibri" pitchFamily="34" charset="0"/>
                          <a:ea typeface="Calibri" pitchFamily="34" charset="-122"/>
                          <a:cs typeface="Calibri" pitchFamily="34" charset="-120"/>
                        </a:rPr>
                        <a:t>Baseline &amp; Follow-up Systolic / Diastolic BP</a:t>
                      </a:r>
                      <a:endParaRPr lang="en-US" sz="1150" dirty="0">
                        <a:latin typeface="Calibri" charset="0"/>
                        <a:ea typeface="Calibri" charset="0"/>
                        <a:cs typeface="Calibri" charset="0"/>
                      </a:endParaRPr>
                    </a:p>
                  </a:txBody>
                  <a:tcPr marL="91440" marR="91440" marT="45720" marB="45720" anchor="ctr">
                    <a:lnL w="9525" cap="flat" cmpd="sng" algn="ctr">
                      <a:solidFill>
                        <a:srgbClr val="D7DEE5"/>
                      </a:solidFill>
                      <a:prstDash val="solid"/>
                      <a:round/>
                      <a:headEnd type="none" w="med" len="med"/>
                      <a:tailEnd type="none" w="med" len="med"/>
                    </a:lnL>
                    <a:lnR w="9525" cap="flat" cmpd="sng" algn="ctr">
                      <a:solidFill>
                        <a:srgbClr val="D7DEE5"/>
                      </a:solidFill>
                      <a:prstDash val="solid"/>
                      <a:round/>
                      <a:headEnd type="none" w="med" len="med"/>
                      <a:tailEnd type="none" w="med" len="med"/>
                    </a:lnR>
                    <a:lnT w="9525" cap="flat" cmpd="sng" algn="ctr">
                      <a:solidFill>
                        <a:srgbClr val="D7DEE5"/>
                      </a:solidFill>
                      <a:prstDash val="solid"/>
                      <a:round/>
                      <a:headEnd type="none" w="med" len="med"/>
                      <a:tailEnd type="none" w="med" len="med"/>
                    </a:lnT>
                    <a:lnB w="9525" cap="flat" cmpd="sng" algn="ctr">
                      <a:solidFill>
                        <a:srgbClr val="D7DEE5"/>
                      </a:solidFill>
                      <a:prstDash val="solid"/>
                      <a:round/>
                      <a:headEnd type="none" w="med" len="med"/>
                      <a:tailEnd type="none" w="med" len="med"/>
                    </a:lnB>
                    <a:solidFill>
                      <a:srgbClr val="EEF2F6"/>
                    </a:solidFill>
                  </a:tcPr>
                </a:tc>
              </a:tr>
              <a:tr h="548640">
                <a:tc>
                  <a:txBody>
                    <a:bodyPr/>
                    <a:lstStyle/>
                    <a:p>
                      <a:pPr algn="l" indent="0" marL="0">
                        <a:buNone/>
                      </a:pPr>
                      <a:r>
                        <a:rPr lang="en-US" sz="1150" b="1" dirty="0">
                          <a:solidFill>
                            <a:srgbClr val="1B3A5C"/>
                          </a:solidFill>
                          <a:latin typeface="Calibri" pitchFamily="34" charset="0"/>
                          <a:ea typeface="Calibri" pitchFamily="34" charset="-122"/>
                          <a:cs typeface="Calibri" pitchFamily="34" charset="-120"/>
                        </a:rPr>
                        <a:t>Treatment</a:t>
                      </a:r>
                      <a:endParaRPr lang="en-US" sz="1150" dirty="0">
                        <a:latin typeface="Calibri" charset="0"/>
                        <a:ea typeface="Calibri" charset="0"/>
                        <a:cs typeface="Calibri" charset="0"/>
                      </a:endParaRPr>
                    </a:p>
                  </a:txBody>
                  <a:tcPr marL="91440" marR="91440" marT="45720" marB="45720" anchor="ctr">
                    <a:lnL w="9525" cap="flat" cmpd="sng" algn="ctr">
                      <a:solidFill>
                        <a:srgbClr val="D7DEE5"/>
                      </a:solidFill>
                      <a:prstDash val="solid"/>
                      <a:round/>
                      <a:headEnd type="none" w="med" len="med"/>
                      <a:tailEnd type="none" w="med" len="med"/>
                    </a:lnL>
                    <a:lnR w="9525" cap="flat" cmpd="sng" algn="ctr">
                      <a:solidFill>
                        <a:srgbClr val="D7DEE5"/>
                      </a:solidFill>
                      <a:prstDash val="solid"/>
                      <a:round/>
                      <a:headEnd type="none" w="med" len="med"/>
                      <a:tailEnd type="none" w="med" len="med"/>
                    </a:lnR>
                    <a:lnT w="9525" cap="flat" cmpd="sng" algn="ctr">
                      <a:solidFill>
                        <a:srgbClr val="D7DEE5"/>
                      </a:solidFill>
                      <a:prstDash val="solid"/>
                      <a:round/>
                      <a:headEnd type="none" w="med" len="med"/>
                      <a:tailEnd type="none" w="med" len="med"/>
                    </a:lnT>
                    <a:lnB w="9525" cap="flat" cmpd="sng" algn="ctr">
                      <a:solidFill>
                        <a:srgbClr val="D7DEE5"/>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3A5C"/>
                          </a:solidFill>
                          <a:latin typeface="Calibri" pitchFamily="34" charset="0"/>
                          <a:ea typeface="Calibri" pitchFamily="34" charset="-122"/>
                          <a:cs typeface="Calibri" pitchFamily="34" charset="-120"/>
                        </a:rPr>
                        <a:t>Antihypertensive Drug Class</a:t>
                      </a:r>
                      <a:endParaRPr lang="en-US" sz="1150" dirty="0">
                        <a:latin typeface="Calibri" charset="0"/>
                        <a:ea typeface="Calibri" charset="0"/>
                        <a:cs typeface="Calibri" charset="0"/>
                      </a:endParaRPr>
                    </a:p>
                  </a:txBody>
                  <a:tcPr marL="91440" marR="91440" marT="45720" marB="45720" anchor="ctr">
                    <a:lnL w="9525" cap="flat" cmpd="sng" algn="ctr">
                      <a:solidFill>
                        <a:srgbClr val="D7DEE5"/>
                      </a:solidFill>
                      <a:prstDash val="solid"/>
                      <a:round/>
                      <a:headEnd type="none" w="med" len="med"/>
                      <a:tailEnd type="none" w="med" len="med"/>
                    </a:lnL>
                    <a:lnR w="9525" cap="flat" cmpd="sng" algn="ctr">
                      <a:solidFill>
                        <a:srgbClr val="D7DEE5"/>
                      </a:solidFill>
                      <a:prstDash val="solid"/>
                      <a:round/>
                      <a:headEnd type="none" w="med" len="med"/>
                      <a:tailEnd type="none" w="med" len="med"/>
                    </a:lnR>
                    <a:lnT w="9525" cap="flat" cmpd="sng" algn="ctr">
                      <a:solidFill>
                        <a:srgbClr val="D7DEE5"/>
                      </a:solidFill>
                      <a:prstDash val="solid"/>
                      <a:round/>
                      <a:headEnd type="none" w="med" len="med"/>
                      <a:tailEnd type="none" w="med" len="med"/>
                    </a:lnT>
                    <a:lnB w="9525" cap="flat" cmpd="sng" algn="ctr">
                      <a:solidFill>
                        <a:srgbClr val="D7DEE5"/>
                      </a:solidFill>
                      <a:prstDash val="solid"/>
                      <a:round/>
                      <a:headEnd type="none" w="med" len="med"/>
                      <a:tailEnd type="none" w="med" len="med"/>
                    </a:lnB>
                    <a:solidFill>
                      <a:srgbClr val="FFFFFF"/>
                    </a:solidFill>
                  </a:tcPr>
                </a:tc>
              </a:tr>
              <a:tr h="548640">
                <a:tc>
                  <a:txBody>
                    <a:bodyPr/>
                    <a:lstStyle/>
                    <a:p>
                      <a:pPr algn="l" indent="0" marL="0">
                        <a:buNone/>
                      </a:pPr>
                      <a:r>
                        <a:rPr lang="en-US" sz="1150" b="1" dirty="0">
                          <a:solidFill>
                            <a:srgbClr val="1B3A5C"/>
                          </a:solidFill>
                          <a:latin typeface="Calibri" pitchFamily="34" charset="0"/>
                          <a:ea typeface="Calibri" pitchFamily="34" charset="-122"/>
                          <a:cs typeface="Calibri" pitchFamily="34" charset="-120"/>
                        </a:rPr>
                        <a:t>Outcome</a:t>
                      </a:r>
                      <a:endParaRPr lang="en-US" sz="1150" dirty="0">
                        <a:latin typeface="Calibri" charset="0"/>
                        <a:ea typeface="Calibri" charset="0"/>
                        <a:cs typeface="Calibri" charset="0"/>
                      </a:endParaRPr>
                    </a:p>
                  </a:txBody>
                  <a:tcPr marL="91440" marR="91440" marT="45720" marB="45720" anchor="ctr">
                    <a:lnL w="9525" cap="flat" cmpd="sng" algn="ctr">
                      <a:solidFill>
                        <a:srgbClr val="D7DEE5"/>
                      </a:solidFill>
                      <a:prstDash val="solid"/>
                      <a:round/>
                      <a:headEnd type="none" w="med" len="med"/>
                      <a:tailEnd type="none" w="med" len="med"/>
                    </a:lnL>
                    <a:lnR w="9525" cap="flat" cmpd="sng" algn="ctr">
                      <a:solidFill>
                        <a:srgbClr val="D7DEE5"/>
                      </a:solidFill>
                      <a:prstDash val="solid"/>
                      <a:round/>
                      <a:headEnd type="none" w="med" len="med"/>
                      <a:tailEnd type="none" w="med" len="med"/>
                    </a:lnR>
                    <a:lnT w="9525" cap="flat" cmpd="sng" algn="ctr">
                      <a:solidFill>
                        <a:srgbClr val="D7DEE5"/>
                      </a:solidFill>
                      <a:prstDash val="solid"/>
                      <a:round/>
                      <a:headEnd type="none" w="med" len="med"/>
                      <a:tailEnd type="none" w="med" len="med"/>
                    </a:lnT>
                    <a:lnB w="9525" cap="flat" cmpd="sng" algn="ctr">
                      <a:solidFill>
                        <a:srgbClr val="D7DEE5"/>
                      </a:solidFill>
                      <a:prstDash val="solid"/>
                      <a:round/>
                      <a:headEnd type="none" w="med" len="med"/>
                      <a:tailEnd type="none" w="med" len="med"/>
                    </a:lnB>
                    <a:solidFill>
                      <a:srgbClr val="EEF2F6"/>
                    </a:solidFill>
                  </a:tcPr>
                </a:tc>
                <a:tc>
                  <a:txBody>
                    <a:bodyPr/>
                    <a:lstStyle/>
                    <a:p>
                      <a:pPr algn="l" indent="0" marL="0">
                        <a:buNone/>
                      </a:pPr>
                      <a:r>
                        <a:rPr lang="en-US" sz="1150" dirty="0">
                          <a:solidFill>
                            <a:srgbClr val="1B3A5C"/>
                          </a:solidFill>
                          <a:latin typeface="Calibri" pitchFamily="34" charset="0"/>
                          <a:ea typeface="Calibri" pitchFamily="34" charset="-122"/>
                          <a:cs typeface="Calibri" pitchFamily="34" charset="-120"/>
                        </a:rPr>
                        <a:t>Medication Adherence, BP Control Status</a:t>
                      </a:r>
                      <a:endParaRPr lang="en-US" sz="1150" dirty="0">
                        <a:latin typeface="Calibri" charset="0"/>
                        <a:ea typeface="Calibri" charset="0"/>
                        <a:cs typeface="Calibri" charset="0"/>
                      </a:endParaRPr>
                    </a:p>
                  </a:txBody>
                  <a:tcPr marL="91440" marR="91440" marT="45720" marB="45720" anchor="ctr">
                    <a:lnL w="9525" cap="flat" cmpd="sng" algn="ctr">
                      <a:solidFill>
                        <a:srgbClr val="D7DEE5"/>
                      </a:solidFill>
                      <a:prstDash val="solid"/>
                      <a:round/>
                      <a:headEnd type="none" w="med" len="med"/>
                      <a:tailEnd type="none" w="med" len="med"/>
                    </a:lnL>
                    <a:lnR w="9525" cap="flat" cmpd="sng" algn="ctr">
                      <a:solidFill>
                        <a:srgbClr val="D7DEE5"/>
                      </a:solidFill>
                      <a:prstDash val="solid"/>
                      <a:round/>
                      <a:headEnd type="none" w="med" len="med"/>
                      <a:tailEnd type="none" w="med" len="med"/>
                    </a:lnR>
                    <a:lnT w="9525" cap="flat" cmpd="sng" algn="ctr">
                      <a:solidFill>
                        <a:srgbClr val="D7DEE5"/>
                      </a:solidFill>
                      <a:prstDash val="solid"/>
                      <a:round/>
                      <a:headEnd type="none" w="med" len="med"/>
                      <a:tailEnd type="none" w="med" len="med"/>
                    </a:lnT>
                    <a:lnB w="9525" cap="flat" cmpd="sng" algn="ctr">
                      <a:solidFill>
                        <a:srgbClr val="D7DEE5"/>
                      </a:solidFill>
                      <a:prstDash val="solid"/>
                      <a:round/>
                      <a:headEnd type="none" w="med" len="med"/>
                      <a:tailEnd type="none" w="med" len="med"/>
                    </a:lnB>
                    <a:solidFill>
                      <a:srgbClr val="EEF2F6"/>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02920" y="411480"/>
            <a:ext cx="11155680" cy="640080"/>
          </a:xfrm>
          <a:prstGeom prst="rect">
            <a:avLst/>
          </a:prstGeom>
          <a:noFill/>
          <a:ln/>
        </p:spPr>
        <p:txBody>
          <a:bodyPr wrap="square" lIns="0" tIns="0" rIns="0" bIns="0" rtlCol="0" anchor="ctr"/>
          <a:lstStyle/>
          <a:p>
            <a:pPr algn="l" indent="0" marL="0">
              <a:buNone/>
            </a:pPr>
            <a:r>
              <a:rPr lang="en-US" sz="3200" b="1" dirty="0">
                <a:solidFill>
                  <a:srgbClr val="1B3A5C"/>
                </a:solidFill>
                <a:latin typeface="Cambria" pitchFamily="34" charset="0"/>
                <a:ea typeface="Cambria" pitchFamily="34" charset="-122"/>
                <a:cs typeface="Cambria" pitchFamily="34" charset="-120"/>
              </a:rPr>
              <a:t>Methodology</a:t>
            </a:r>
            <a:endParaRPr lang="en-US" sz="3200" dirty="0"/>
          </a:p>
        </p:txBody>
      </p:sp>
      <p:sp>
        <p:nvSpPr>
          <p:cNvPr id="3" name="Text 1"/>
          <p:cNvSpPr/>
          <p:nvPr/>
        </p:nvSpPr>
        <p:spPr>
          <a:xfrm>
            <a:off x="502920" y="987552"/>
            <a:ext cx="11155680" cy="320040"/>
          </a:xfrm>
          <a:prstGeom prst="rect">
            <a:avLst/>
          </a:prstGeom>
          <a:noFill/>
          <a:ln/>
        </p:spPr>
        <p:txBody>
          <a:bodyPr wrap="square" lIns="0" tIns="0" rIns="0" bIns="0" rtlCol="0" anchor="ctr"/>
          <a:lstStyle/>
          <a:p>
            <a:pPr algn="l" indent="0" marL="0">
              <a:buNone/>
            </a:pPr>
            <a:r>
              <a:rPr lang="en-US" sz="1300" i="1" dirty="0">
                <a:solidFill>
                  <a:srgbClr val="4A5A68"/>
                </a:solidFill>
                <a:latin typeface="Calibri" pitchFamily="34" charset="0"/>
                <a:ea typeface="Calibri" pitchFamily="34" charset="-122"/>
                <a:cs typeface="Calibri" pitchFamily="34" charset="-120"/>
              </a:rPr>
              <a:t>From raw clinical data to an interactive dashboard</a:t>
            </a:r>
            <a:endParaRPr lang="en-US" sz="1300" dirty="0"/>
          </a:p>
        </p:txBody>
      </p:sp>
      <p:sp>
        <p:nvSpPr>
          <p:cNvPr id="4" name="Shape 2"/>
          <p:cNvSpPr/>
          <p:nvPr/>
        </p:nvSpPr>
        <p:spPr>
          <a:xfrm>
            <a:off x="1005840" y="1965960"/>
            <a:ext cx="2834640" cy="1554480"/>
          </a:xfrm>
          <a:prstGeom prst="rect">
            <a:avLst>
              <a:gd name="adj" fmla="val 5294"/>
            </a:avLst>
          </a:prstGeom>
          <a:solidFill>
            <a:srgbClr val="1B3A5C"/>
          </a:solidFill>
          <a:ln/>
          <a:effectLst>
            <a:outerShdw sx="100000" sy="100000" kx="0" ky="0" algn="bl" rotWithShape="0" blurRad="76200" dist="25400" dir="5400000">
              <a:srgbClr val="1B3A5C">
                <a:alpha val="18000"/>
              </a:srgbClr>
            </a:outerShdw>
          </a:effectLst>
        </p:spPr>
      </p:sp>
      <p:sp>
        <p:nvSpPr>
          <p:cNvPr id="5" name="Text 3"/>
          <p:cNvSpPr/>
          <p:nvPr/>
        </p:nvSpPr>
        <p:spPr>
          <a:xfrm>
            <a:off x="1005840" y="2167128"/>
            <a:ext cx="283464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SQL Server</a:t>
            </a:r>
            <a:endParaRPr lang="en-US" sz="1800" dirty="0"/>
          </a:p>
        </p:txBody>
      </p:sp>
      <p:sp>
        <p:nvSpPr>
          <p:cNvPr id="6" name="Text 4"/>
          <p:cNvSpPr/>
          <p:nvPr/>
        </p:nvSpPr>
        <p:spPr>
          <a:xfrm>
            <a:off x="1188720" y="2624328"/>
            <a:ext cx="2468880" cy="777240"/>
          </a:xfrm>
          <a:prstGeom prst="rect">
            <a:avLst/>
          </a:prstGeom>
          <a:noFill/>
          <a:ln/>
        </p:spPr>
        <p:txBody>
          <a:bodyPr wrap="square" lIns="0" tIns="0" rIns="0" bIns="0" rtlCol="0" anchor="ctr"/>
          <a:lstStyle/>
          <a:p>
            <a:pPr algn="ctr" indent="0" marL="0">
              <a:lnSpc>
                <a:spcPct val="120000"/>
              </a:lnSpc>
              <a:buNone/>
            </a:pPr>
            <a:r>
              <a:rPr lang="en-US" sz="1150" dirty="0">
                <a:solidFill>
                  <a:srgbClr val="EAF0F6"/>
                </a:solidFill>
                <a:latin typeface="Calibri" pitchFamily="34" charset="0"/>
                <a:ea typeface="Calibri" pitchFamily="34" charset="-122"/>
                <a:cs typeface="Calibri" pitchFamily="34" charset="-120"/>
              </a:rPr>
              <a:t>Data import, cleaning,</a:t>
            </a:r>
            <a:endParaRPr lang="en-US" sz="1150" dirty="0"/>
          </a:p>
          <a:p>
            <a:pPr algn="ctr" indent="0" marL="0">
              <a:lnSpc>
                <a:spcPct val="120000"/>
              </a:lnSpc>
              <a:buNone/>
            </a:pPr>
            <a:r>
              <a:rPr lang="en-US" sz="1150" dirty="0">
                <a:solidFill>
                  <a:srgbClr val="EAF0F6"/>
                </a:solidFill>
                <a:latin typeface="Calibri" pitchFamily="34" charset="0"/>
                <a:ea typeface="Calibri" pitchFamily="34" charset="-122"/>
                <a:cs typeface="Calibri" pitchFamily="34" charset="-120"/>
              </a:rPr>
              <a:t>querying &amp; exploration</a:t>
            </a:r>
            <a:endParaRPr lang="en-US" sz="1150" dirty="0"/>
          </a:p>
        </p:txBody>
      </p:sp>
      <p:sp>
        <p:nvSpPr>
          <p:cNvPr id="7" name="Text 5"/>
          <p:cNvSpPr/>
          <p:nvPr/>
        </p:nvSpPr>
        <p:spPr>
          <a:xfrm>
            <a:off x="3840480" y="1965960"/>
            <a:ext cx="822960" cy="1554480"/>
          </a:xfrm>
          <a:prstGeom prst="rect">
            <a:avLst/>
          </a:prstGeom>
          <a:noFill/>
          <a:ln/>
        </p:spPr>
        <p:txBody>
          <a:bodyPr wrap="square" lIns="0" tIns="0" rIns="0" bIns="0" rtlCol="0" anchor="ctr"/>
          <a:lstStyle/>
          <a:p>
            <a:pPr algn="ctr" indent="0" marL="0">
              <a:buNone/>
            </a:pPr>
            <a:r>
              <a:rPr lang="en-US" sz="2600" b="1" dirty="0">
                <a:solidFill>
                  <a:srgbClr val="2C3E50"/>
                </a:solidFill>
                <a:latin typeface="Calibri" pitchFamily="34" charset="0"/>
                <a:ea typeface="Calibri" pitchFamily="34" charset="-122"/>
                <a:cs typeface="Calibri" pitchFamily="34" charset="-120"/>
              </a:rPr>
              <a:t>→</a:t>
            </a:r>
            <a:endParaRPr lang="en-US" sz="2600" dirty="0"/>
          </a:p>
        </p:txBody>
      </p:sp>
      <p:sp>
        <p:nvSpPr>
          <p:cNvPr id="8" name="Shape 6"/>
          <p:cNvSpPr/>
          <p:nvPr/>
        </p:nvSpPr>
        <p:spPr>
          <a:xfrm>
            <a:off x="4663440" y="1965960"/>
            <a:ext cx="2834640" cy="1554480"/>
          </a:xfrm>
          <a:prstGeom prst="rect">
            <a:avLst>
              <a:gd name="adj" fmla="val 5294"/>
            </a:avLst>
          </a:prstGeom>
          <a:solidFill>
            <a:srgbClr val="2E8B57"/>
          </a:solidFill>
          <a:ln/>
          <a:effectLst>
            <a:outerShdw sx="100000" sy="100000" kx="0" ky="0" algn="bl" rotWithShape="0" blurRad="76200" dist="25400" dir="5400000">
              <a:srgbClr val="1B3A5C">
                <a:alpha val="18000"/>
              </a:srgbClr>
            </a:outerShdw>
          </a:effectLst>
        </p:spPr>
      </p:sp>
      <p:sp>
        <p:nvSpPr>
          <p:cNvPr id="9" name="Text 7"/>
          <p:cNvSpPr/>
          <p:nvPr/>
        </p:nvSpPr>
        <p:spPr>
          <a:xfrm>
            <a:off x="4663440" y="2167128"/>
            <a:ext cx="283464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Excel</a:t>
            </a:r>
            <a:endParaRPr lang="en-US" sz="1800" dirty="0"/>
          </a:p>
        </p:txBody>
      </p:sp>
      <p:sp>
        <p:nvSpPr>
          <p:cNvPr id="10" name="Text 8"/>
          <p:cNvSpPr/>
          <p:nvPr/>
        </p:nvSpPr>
        <p:spPr>
          <a:xfrm>
            <a:off x="4846320" y="2624328"/>
            <a:ext cx="2468880" cy="777240"/>
          </a:xfrm>
          <a:prstGeom prst="rect">
            <a:avLst/>
          </a:prstGeom>
          <a:noFill/>
          <a:ln/>
        </p:spPr>
        <p:txBody>
          <a:bodyPr wrap="square" lIns="0" tIns="0" rIns="0" bIns="0" rtlCol="0" anchor="ctr"/>
          <a:lstStyle/>
          <a:p>
            <a:pPr algn="ctr" indent="0" marL="0">
              <a:lnSpc>
                <a:spcPct val="120000"/>
              </a:lnSpc>
              <a:buNone/>
            </a:pPr>
            <a:r>
              <a:rPr lang="en-US" sz="1150" dirty="0">
                <a:solidFill>
                  <a:srgbClr val="EAF0F6"/>
                </a:solidFill>
                <a:latin typeface="Calibri" pitchFamily="34" charset="0"/>
                <a:ea typeface="Calibri" pitchFamily="34" charset="-122"/>
                <a:cs typeface="Calibri" pitchFamily="34" charset="-120"/>
              </a:rPr>
              <a:t>PivotTables, PivotCharts,</a:t>
            </a:r>
            <a:endParaRPr lang="en-US" sz="1150" dirty="0"/>
          </a:p>
          <a:p>
            <a:pPr algn="ctr" indent="0" marL="0">
              <a:lnSpc>
                <a:spcPct val="120000"/>
              </a:lnSpc>
              <a:buNone/>
            </a:pPr>
            <a:r>
              <a:rPr lang="en-US" sz="1150" dirty="0">
                <a:solidFill>
                  <a:srgbClr val="EAF0F6"/>
                </a:solidFill>
                <a:latin typeface="Calibri" pitchFamily="34" charset="0"/>
                <a:ea typeface="Calibri" pitchFamily="34" charset="-122"/>
                <a:cs typeface="Calibri" pitchFamily="34" charset="-120"/>
              </a:rPr>
              <a:t>KPIs, slicers &amp; design</a:t>
            </a:r>
            <a:endParaRPr lang="en-US" sz="1150" dirty="0"/>
          </a:p>
        </p:txBody>
      </p:sp>
      <p:sp>
        <p:nvSpPr>
          <p:cNvPr id="11" name="Text 9"/>
          <p:cNvSpPr/>
          <p:nvPr/>
        </p:nvSpPr>
        <p:spPr>
          <a:xfrm>
            <a:off x="7498080" y="1965960"/>
            <a:ext cx="822960" cy="1554480"/>
          </a:xfrm>
          <a:prstGeom prst="rect">
            <a:avLst/>
          </a:prstGeom>
          <a:noFill/>
          <a:ln/>
        </p:spPr>
        <p:txBody>
          <a:bodyPr wrap="square" lIns="0" tIns="0" rIns="0" bIns="0" rtlCol="0" anchor="ctr"/>
          <a:lstStyle/>
          <a:p>
            <a:pPr algn="ctr" indent="0" marL="0">
              <a:buNone/>
            </a:pPr>
            <a:r>
              <a:rPr lang="en-US" sz="2600" b="1" dirty="0">
                <a:solidFill>
                  <a:srgbClr val="2C3E50"/>
                </a:solidFill>
                <a:latin typeface="Calibri" pitchFamily="34" charset="0"/>
                <a:ea typeface="Calibri" pitchFamily="34" charset="-122"/>
                <a:cs typeface="Calibri" pitchFamily="34" charset="-120"/>
              </a:rPr>
              <a:t>→</a:t>
            </a:r>
            <a:endParaRPr lang="en-US" sz="2600" dirty="0"/>
          </a:p>
        </p:txBody>
      </p:sp>
      <p:sp>
        <p:nvSpPr>
          <p:cNvPr id="12" name="Shape 10"/>
          <p:cNvSpPr/>
          <p:nvPr/>
        </p:nvSpPr>
        <p:spPr>
          <a:xfrm>
            <a:off x="8321040" y="1965960"/>
            <a:ext cx="2834640" cy="1554480"/>
          </a:xfrm>
          <a:prstGeom prst="rect">
            <a:avLst>
              <a:gd name="adj" fmla="val 5294"/>
            </a:avLst>
          </a:prstGeom>
          <a:solidFill>
            <a:srgbClr val="3B82C4"/>
          </a:solidFill>
          <a:ln/>
          <a:effectLst>
            <a:outerShdw sx="100000" sy="100000" kx="0" ky="0" algn="bl" rotWithShape="0" blurRad="76200" dist="25400" dir="5400000">
              <a:srgbClr val="1B3A5C">
                <a:alpha val="18000"/>
              </a:srgbClr>
            </a:outerShdw>
          </a:effectLst>
        </p:spPr>
      </p:sp>
      <p:sp>
        <p:nvSpPr>
          <p:cNvPr id="13" name="Text 11"/>
          <p:cNvSpPr/>
          <p:nvPr/>
        </p:nvSpPr>
        <p:spPr>
          <a:xfrm>
            <a:off x="8321040" y="2167128"/>
            <a:ext cx="283464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PowerPoint</a:t>
            </a:r>
            <a:endParaRPr lang="en-US" sz="1800" dirty="0"/>
          </a:p>
        </p:txBody>
      </p:sp>
      <p:sp>
        <p:nvSpPr>
          <p:cNvPr id="14" name="Text 12"/>
          <p:cNvSpPr/>
          <p:nvPr/>
        </p:nvSpPr>
        <p:spPr>
          <a:xfrm>
            <a:off x="8503920" y="2624328"/>
            <a:ext cx="2468880" cy="777240"/>
          </a:xfrm>
          <a:prstGeom prst="rect">
            <a:avLst/>
          </a:prstGeom>
          <a:noFill/>
          <a:ln/>
        </p:spPr>
        <p:txBody>
          <a:bodyPr wrap="square" lIns="0" tIns="0" rIns="0" bIns="0" rtlCol="0" anchor="ctr"/>
          <a:lstStyle/>
          <a:p>
            <a:pPr algn="ctr" indent="0" marL="0">
              <a:lnSpc>
                <a:spcPct val="120000"/>
              </a:lnSpc>
              <a:buNone/>
            </a:pPr>
            <a:r>
              <a:rPr lang="en-US" sz="1150" dirty="0">
                <a:solidFill>
                  <a:srgbClr val="EAF0F6"/>
                </a:solidFill>
                <a:latin typeface="Calibri" pitchFamily="34" charset="0"/>
                <a:ea typeface="Calibri" pitchFamily="34" charset="-122"/>
                <a:cs typeface="Calibri" pitchFamily="34" charset="-120"/>
              </a:rPr>
              <a:t>Presentation &amp;</a:t>
            </a:r>
            <a:endParaRPr lang="en-US" sz="1150" dirty="0"/>
          </a:p>
          <a:p>
            <a:pPr algn="ctr" indent="0" marL="0">
              <a:lnSpc>
                <a:spcPct val="120000"/>
              </a:lnSpc>
              <a:buNone/>
            </a:pPr>
            <a:r>
              <a:rPr lang="en-US" sz="1150" dirty="0">
                <a:solidFill>
                  <a:srgbClr val="EAF0F6"/>
                </a:solidFill>
                <a:latin typeface="Calibri" pitchFamily="34" charset="0"/>
                <a:ea typeface="Calibri" pitchFamily="34" charset="-122"/>
                <a:cs typeface="Calibri" pitchFamily="34" charset="-120"/>
              </a:rPr>
              <a:t>project documentation</a:t>
            </a:r>
            <a:endParaRPr lang="en-US" sz="1150" dirty="0"/>
          </a:p>
        </p:txBody>
      </p:sp>
      <p:sp>
        <p:nvSpPr>
          <p:cNvPr id="15" name="Text 13"/>
          <p:cNvSpPr/>
          <p:nvPr/>
        </p:nvSpPr>
        <p:spPr>
          <a:xfrm>
            <a:off x="502920" y="4023360"/>
            <a:ext cx="11155680" cy="365760"/>
          </a:xfrm>
          <a:prstGeom prst="rect">
            <a:avLst/>
          </a:prstGeom>
          <a:noFill/>
          <a:ln/>
        </p:spPr>
        <p:txBody>
          <a:bodyPr wrap="square" lIns="0" tIns="0" rIns="0" bIns="0" rtlCol="0" anchor="ctr"/>
          <a:lstStyle/>
          <a:p>
            <a:pPr indent="0" marL="0">
              <a:buNone/>
            </a:pPr>
            <a:r>
              <a:rPr lang="en-US" sz="1800" b="1" dirty="0">
                <a:solidFill>
                  <a:srgbClr val="1B3A5C"/>
                </a:solidFill>
                <a:latin typeface="Cambria" pitchFamily="34" charset="0"/>
                <a:ea typeface="Cambria" pitchFamily="34" charset="-122"/>
                <a:cs typeface="Cambria" pitchFamily="34" charset="-120"/>
              </a:rPr>
              <a:t>Tools Used</a:t>
            </a:r>
            <a:endParaRPr lang="en-US" sz="1800" dirty="0"/>
          </a:p>
        </p:txBody>
      </p:sp>
      <p:sp>
        <p:nvSpPr>
          <p:cNvPr id="16" name="Shape 14"/>
          <p:cNvSpPr/>
          <p:nvPr/>
        </p:nvSpPr>
        <p:spPr>
          <a:xfrm>
            <a:off x="502920" y="4526280"/>
            <a:ext cx="365760" cy="365760"/>
          </a:xfrm>
          <a:prstGeom prst="ellipse">
            <a:avLst/>
          </a:prstGeom>
          <a:solidFill>
            <a:srgbClr val="1B3A5C"/>
          </a:solidFill>
          <a:ln/>
        </p:spPr>
      </p:sp>
      <p:sp>
        <p:nvSpPr>
          <p:cNvPr id="17" name="Text 15"/>
          <p:cNvSpPr/>
          <p:nvPr/>
        </p:nvSpPr>
        <p:spPr>
          <a:xfrm>
            <a:off x="502920" y="4526280"/>
            <a:ext cx="36576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8" name="Text 16"/>
          <p:cNvSpPr/>
          <p:nvPr/>
        </p:nvSpPr>
        <p:spPr>
          <a:xfrm>
            <a:off x="1051560" y="4471416"/>
            <a:ext cx="10607040" cy="457200"/>
          </a:xfrm>
          <a:prstGeom prst="rect">
            <a:avLst/>
          </a:prstGeom>
          <a:noFill/>
          <a:ln/>
        </p:spPr>
        <p:txBody>
          <a:bodyPr wrap="square" lIns="0" tIns="0" rIns="0" bIns="0" rtlCol="0" anchor="ctr"/>
          <a:lstStyle/>
          <a:p>
            <a:pPr algn="l" indent="0" marL="0">
              <a:buNone/>
            </a:pPr>
            <a:r>
              <a:rPr lang="en-US" sz="1350" b="1" dirty="0">
                <a:solidFill>
                  <a:srgbClr val="1B3A5C"/>
                </a:solidFill>
                <a:latin typeface="Calibri" pitchFamily="34" charset="0"/>
                <a:ea typeface="Calibri" pitchFamily="34" charset="-122"/>
                <a:cs typeface="Calibri" pitchFamily="34" charset="-120"/>
              </a:rPr>
              <a:t>SQL Server Management Studio (SSMS)  —  </a:t>
            </a:r>
            <a:pPr algn="l" indent="0" marL="0">
              <a:buNone/>
            </a:pPr>
            <a:r>
              <a:rPr lang="en-US" sz="1350" dirty="0">
                <a:solidFill>
                  <a:srgbClr val="4A5A68"/>
                </a:solidFill>
                <a:latin typeface="Calibri" pitchFamily="34" charset="0"/>
                <a:ea typeface="Calibri" pitchFamily="34" charset="-122"/>
                <a:cs typeface="Calibri" pitchFamily="34" charset="-120"/>
              </a:rPr>
              <a:t>Data import, cleaning, querying, and exploratory analysis.</a:t>
            </a:r>
            <a:endParaRPr lang="en-US" sz="1350" dirty="0"/>
          </a:p>
        </p:txBody>
      </p:sp>
      <p:sp>
        <p:nvSpPr>
          <p:cNvPr id="19" name="Shape 17"/>
          <p:cNvSpPr/>
          <p:nvPr/>
        </p:nvSpPr>
        <p:spPr>
          <a:xfrm>
            <a:off x="502920" y="5093208"/>
            <a:ext cx="365760" cy="365760"/>
          </a:xfrm>
          <a:prstGeom prst="ellipse">
            <a:avLst/>
          </a:prstGeom>
          <a:solidFill>
            <a:srgbClr val="2E8B57"/>
          </a:solidFill>
          <a:ln/>
        </p:spPr>
      </p:sp>
      <p:sp>
        <p:nvSpPr>
          <p:cNvPr id="20" name="Text 18"/>
          <p:cNvSpPr/>
          <p:nvPr/>
        </p:nvSpPr>
        <p:spPr>
          <a:xfrm>
            <a:off x="502920" y="5093208"/>
            <a:ext cx="36576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21" name="Text 19"/>
          <p:cNvSpPr/>
          <p:nvPr/>
        </p:nvSpPr>
        <p:spPr>
          <a:xfrm>
            <a:off x="1051560" y="5038344"/>
            <a:ext cx="10607040" cy="457200"/>
          </a:xfrm>
          <a:prstGeom prst="rect">
            <a:avLst/>
          </a:prstGeom>
          <a:noFill/>
          <a:ln/>
        </p:spPr>
        <p:txBody>
          <a:bodyPr wrap="square" lIns="0" tIns="0" rIns="0" bIns="0" rtlCol="0" anchor="ctr"/>
          <a:lstStyle/>
          <a:p>
            <a:pPr algn="l" indent="0" marL="0">
              <a:buNone/>
            </a:pPr>
            <a:r>
              <a:rPr lang="en-US" sz="1350" b="1" dirty="0">
                <a:solidFill>
                  <a:srgbClr val="1B3A5C"/>
                </a:solidFill>
                <a:latin typeface="Calibri" pitchFamily="34" charset="0"/>
                <a:ea typeface="Calibri" pitchFamily="34" charset="-122"/>
                <a:cs typeface="Calibri" pitchFamily="34" charset="-120"/>
              </a:rPr>
              <a:t>Microsoft Excel  —  </a:t>
            </a:r>
            <a:pPr algn="l" indent="0" marL="0">
              <a:buNone/>
            </a:pPr>
            <a:r>
              <a:rPr lang="en-US" sz="1350" dirty="0">
                <a:solidFill>
                  <a:srgbClr val="4A5A68"/>
                </a:solidFill>
                <a:latin typeface="Calibri" pitchFamily="34" charset="0"/>
                <a:ea typeface="Calibri" pitchFamily="34" charset="-122"/>
                <a:cs typeface="Calibri" pitchFamily="34" charset="-120"/>
              </a:rPr>
              <a:t>PivotTables, PivotCharts, KPIs, slicers, and dashboard design.</a:t>
            </a:r>
            <a:endParaRPr lang="en-US" sz="1350" dirty="0"/>
          </a:p>
        </p:txBody>
      </p:sp>
      <p:sp>
        <p:nvSpPr>
          <p:cNvPr id="22" name="Shape 20"/>
          <p:cNvSpPr/>
          <p:nvPr/>
        </p:nvSpPr>
        <p:spPr>
          <a:xfrm>
            <a:off x="502920" y="5660136"/>
            <a:ext cx="365760" cy="365760"/>
          </a:xfrm>
          <a:prstGeom prst="ellipse">
            <a:avLst/>
          </a:prstGeom>
          <a:solidFill>
            <a:srgbClr val="3B82C4"/>
          </a:solidFill>
          <a:ln/>
        </p:spPr>
      </p:sp>
      <p:sp>
        <p:nvSpPr>
          <p:cNvPr id="23" name="Text 21"/>
          <p:cNvSpPr/>
          <p:nvPr/>
        </p:nvSpPr>
        <p:spPr>
          <a:xfrm>
            <a:off x="502920" y="5660136"/>
            <a:ext cx="36576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24" name="Text 22"/>
          <p:cNvSpPr/>
          <p:nvPr/>
        </p:nvSpPr>
        <p:spPr>
          <a:xfrm>
            <a:off x="1051560" y="5605272"/>
            <a:ext cx="10607040" cy="457200"/>
          </a:xfrm>
          <a:prstGeom prst="rect">
            <a:avLst/>
          </a:prstGeom>
          <a:noFill/>
          <a:ln/>
        </p:spPr>
        <p:txBody>
          <a:bodyPr wrap="square" lIns="0" tIns="0" rIns="0" bIns="0" rtlCol="0" anchor="ctr"/>
          <a:lstStyle/>
          <a:p>
            <a:pPr algn="l" indent="0" marL="0">
              <a:buNone/>
            </a:pPr>
            <a:r>
              <a:rPr lang="en-US" sz="1350" b="1" dirty="0">
                <a:solidFill>
                  <a:srgbClr val="1B3A5C"/>
                </a:solidFill>
                <a:latin typeface="Calibri" pitchFamily="34" charset="0"/>
                <a:ea typeface="Calibri" pitchFamily="34" charset="-122"/>
                <a:cs typeface="Calibri" pitchFamily="34" charset="-120"/>
              </a:rPr>
              <a:t>PowerPoint  —  </a:t>
            </a:r>
            <a:pPr algn="l" indent="0" marL="0">
              <a:buNone/>
            </a:pPr>
            <a:r>
              <a:rPr lang="en-US" sz="1350" dirty="0">
                <a:solidFill>
                  <a:srgbClr val="4A5A68"/>
                </a:solidFill>
                <a:latin typeface="Calibri" pitchFamily="34" charset="0"/>
                <a:ea typeface="Calibri" pitchFamily="34" charset="-122"/>
                <a:cs typeface="Calibri" pitchFamily="34" charset="-120"/>
              </a:rPr>
              <a:t>Presentation and project documentation.</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02920" y="411480"/>
            <a:ext cx="11155680" cy="640080"/>
          </a:xfrm>
          <a:prstGeom prst="rect">
            <a:avLst/>
          </a:prstGeom>
          <a:noFill/>
          <a:ln/>
        </p:spPr>
        <p:txBody>
          <a:bodyPr wrap="square" lIns="0" tIns="0" rIns="0" bIns="0" rtlCol="0" anchor="ctr"/>
          <a:lstStyle/>
          <a:p>
            <a:pPr algn="l" indent="0" marL="0">
              <a:buNone/>
            </a:pPr>
            <a:r>
              <a:rPr lang="en-US" sz="3200" b="1" dirty="0">
                <a:solidFill>
                  <a:srgbClr val="1B3A5C"/>
                </a:solidFill>
                <a:latin typeface="Cambria" pitchFamily="34" charset="0"/>
                <a:ea typeface="Cambria" pitchFamily="34" charset="-122"/>
                <a:cs typeface="Cambria" pitchFamily="34" charset="-120"/>
              </a:rPr>
              <a:t>SQL Data Analysis</a:t>
            </a:r>
            <a:endParaRPr lang="en-US" sz="3200" dirty="0"/>
          </a:p>
        </p:txBody>
      </p:sp>
      <p:sp>
        <p:nvSpPr>
          <p:cNvPr id="3" name="Text 1"/>
          <p:cNvSpPr/>
          <p:nvPr/>
        </p:nvSpPr>
        <p:spPr>
          <a:xfrm>
            <a:off x="502920" y="1783080"/>
            <a:ext cx="4937760" cy="365760"/>
          </a:xfrm>
          <a:prstGeom prst="rect">
            <a:avLst/>
          </a:prstGeom>
          <a:noFill/>
          <a:ln/>
        </p:spPr>
        <p:txBody>
          <a:bodyPr wrap="square" lIns="0" tIns="0" rIns="0" bIns="0" rtlCol="0" anchor="ctr"/>
          <a:lstStyle/>
          <a:p>
            <a:pPr indent="0" marL="0">
              <a:buNone/>
            </a:pPr>
            <a:r>
              <a:rPr lang="en-US" sz="1700" b="1" dirty="0">
                <a:solidFill>
                  <a:srgbClr val="1B3A5C"/>
                </a:solidFill>
                <a:latin typeface="Cambria" pitchFamily="34" charset="0"/>
                <a:ea typeface="Cambria" pitchFamily="34" charset="-122"/>
                <a:cs typeface="Cambria" pitchFamily="34" charset="-120"/>
              </a:rPr>
              <a:t>Analyses Performed</a:t>
            </a:r>
            <a:endParaRPr lang="en-US" sz="1700" dirty="0"/>
          </a:p>
        </p:txBody>
      </p:sp>
      <p:sp>
        <p:nvSpPr>
          <p:cNvPr id="4" name="Shape 2"/>
          <p:cNvSpPr/>
          <p:nvPr/>
        </p:nvSpPr>
        <p:spPr>
          <a:xfrm>
            <a:off x="502920" y="2286000"/>
            <a:ext cx="310896" cy="310896"/>
          </a:xfrm>
          <a:prstGeom prst="ellipse">
            <a:avLst/>
          </a:prstGeom>
          <a:solidFill>
            <a:srgbClr val="1B3A5C"/>
          </a:solidFill>
          <a:ln/>
        </p:spPr>
      </p:sp>
      <p:sp>
        <p:nvSpPr>
          <p:cNvPr id="5" name="Text 3"/>
          <p:cNvSpPr/>
          <p:nvPr/>
        </p:nvSpPr>
        <p:spPr>
          <a:xfrm>
            <a:off x="502920" y="2286000"/>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6" name="Text 4"/>
          <p:cNvSpPr/>
          <p:nvPr/>
        </p:nvSpPr>
        <p:spPr>
          <a:xfrm>
            <a:off x="960120" y="2231136"/>
            <a:ext cx="4572000" cy="420624"/>
          </a:xfrm>
          <a:prstGeom prst="rect">
            <a:avLst/>
          </a:prstGeom>
          <a:noFill/>
          <a:ln/>
        </p:spPr>
        <p:txBody>
          <a:bodyPr wrap="square" lIns="0" tIns="0" rIns="0" bIns="0" rtlCol="0" anchor="ctr"/>
          <a:lstStyle/>
          <a:p>
            <a:pPr algn="l" indent="0" marL="0">
              <a:buNone/>
            </a:pPr>
            <a:r>
              <a:rPr lang="en-US" sz="1250" dirty="0">
                <a:solidFill>
                  <a:srgbClr val="4A5A68"/>
                </a:solidFill>
                <a:latin typeface="Calibri" pitchFamily="34" charset="0"/>
                <a:ea typeface="Calibri" pitchFamily="34" charset="-122"/>
                <a:cs typeface="Calibri" pitchFamily="34" charset="-120"/>
              </a:rPr>
              <a:t>Imported the hypertension dataset into SQL Server.</a:t>
            </a:r>
            <a:endParaRPr lang="en-US" sz="1250" dirty="0"/>
          </a:p>
        </p:txBody>
      </p:sp>
      <p:sp>
        <p:nvSpPr>
          <p:cNvPr id="7" name="Shape 5"/>
          <p:cNvSpPr/>
          <p:nvPr/>
        </p:nvSpPr>
        <p:spPr>
          <a:xfrm>
            <a:off x="502920" y="2834640"/>
            <a:ext cx="310896" cy="310896"/>
          </a:xfrm>
          <a:prstGeom prst="ellipse">
            <a:avLst/>
          </a:prstGeom>
          <a:solidFill>
            <a:srgbClr val="3B82C4"/>
          </a:solidFill>
          <a:ln/>
        </p:spPr>
      </p:sp>
      <p:sp>
        <p:nvSpPr>
          <p:cNvPr id="8" name="Text 6"/>
          <p:cNvSpPr/>
          <p:nvPr/>
        </p:nvSpPr>
        <p:spPr>
          <a:xfrm>
            <a:off x="502920" y="2834640"/>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9" name="Text 7"/>
          <p:cNvSpPr/>
          <p:nvPr/>
        </p:nvSpPr>
        <p:spPr>
          <a:xfrm>
            <a:off x="960120" y="2779776"/>
            <a:ext cx="4572000" cy="420624"/>
          </a:xfrm>
          <a:prstGeom prst="rect">
            <a:avLst/>
          </a:prstGeom>
          <a:noFill/>
          <a:ln/>
        </p:spPr>
        <p:txBody>
          <a:bodyPr wrap="square" lIns="0" tIns="0" rIns="0" bIns="0" rtlCol="0" anchor="ctr"/>
          <a:lstStyle/>
          <a:p>
            <a:pPr algn="l" indent="0" marL="0">
              <a:buNone/>
            </a:pPr>
            <a:r>
              <a:rPr lang="en-US" sz="1250" dirty="0">
                <a:solidFill>
                  <a:srgbClr val="4A5A68"/>
                </a:solidFill>
                <a:latin typeface="Calibri" pitchFamily="34" charset="0"/>
                <a:ea typeface="Calibri" pitchFamily="34" charset="-122"/>
                <a:cs typeface="Calibri" pitchFamily="34" charset="-120"/>
              </a:rPr>
              <a:t>Validated and explored the dataset.</a:t>
            </a:r>
            <a:endParaRPr lang="en-US" sz="1250" dirty="0"/>
          </a:p>
        </p:txBody>
      </p:sp>
      <p:sp>
        <p:nvSpPr>
          <p:cNvPr id="10" name="Shape 8"/>
          <p:cNvSpPr/>
          <p:nvPr/>
        </p:nvSpPr>
        <p:spPr>
          <a:xfrm>
            <a:off x="502920" y="3383280"/>
            <a:ext cx="310896" cy="310896"/>
          </a:xfrm>
          <a:prstGeom prst="ellipse">
            <a:avLst/>
          </a:prstGeom>
          <a:solidFill>
            <a:srgbClr val="2E8B57"/>
          </a:solidFill>
          <a:ln/>
        </p:spPr>
      </p:sp>
      <p:sp>
        <p:nvSpPr>
          <p:cNvPr id="11" name="Text 9"/>
          <p:cNvSpPr/>
          <p:nvPr/>
        </p:nvSpPr>
        <p:spPr>
          <a:xfrm>
            <a:off x="502920" y="3383280"/>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2" name="Text 10"/>
          <p:cNvSpPr/>
          <p:nvPr/>
        </p:nvSpPr>
        <p:spPr>
          <a:xfrm>
            <a:off x="960120" y="3328416"/>
            <a:ext cx="4572000" cy="420624"/>
          </a:xfrm>
          <a:prstGeom prst="rect">
            <a:avLst/>
          </a:prstGeom>
          <a:noFill/>
          <a:ln/>
        </p:spPr>
        <p:txBody>
          <a:bodyPr wrap="square" lIns="0" tIns="0" rIns="0" bIns="0" rtlCol="0" anchor="ctr"/>
          <a:lstStyle/>
          <a:p>
            <a:pPr algn="l" indent="0" marL="0">
              <a:buNone/>
            </a:pPr>
            <a:r>
              <a:rPr lang="en-US" sz="1250" dirty="0">
                <a:solidFill>
                  <a:srgbClr val="4A5A68"/>
                </a:solidFill>
                <a:latin typeface="Calibri" pitchFamily="34" charset="0"/>
                <a:ea typeface="Calibri" pitchFamily="34" charset="-122"/>
                <a:cs typeface="Calibri" pitchFamily="34" charset="-120"/>
              </a:rPr>
              <a:t>Analyzed blood pressure control outcomes.</a:t>
            </a:r>
            <a:endParaRPr lang="en-US" sz="1250" dirty="0"/>
          </a:p>
        </p:txBody>
      </p:sp>
      <p:sp>
        <p:nvSpPr>
          <p:cNvPr id="13" name="Shape 11"/>
          <p:cNvSpPr/>
          <p:nvPr/>
        </p:nvSpPr>
        <p:spPr>
          <a:xfrm>
            <a:off x="502920" y="3931920"/>
            <a:ext cx="310896" cy="310896"/>
          </a:xfrm>
          <a:prstGeom prst="ellipse">
            <a:avLst/>
          </a:prstGeom>
          <a:solidFill>
            <a:srgbClr val="2C3E50"/>
          </a:solidFill>
          <a:ln/>
        </p:spPr>
      </p:sp>
      <p:sp>
        <p:nvSpPr>
          <p:cNvPr id="14" name="Text 12"/>
          <p:cNvSpPr/>
          <p:nvPr/>
        </p:nvSpPr>
        <p:spPr>
          <a:xfrm>
            <a:off x="502920" y="3931920"/>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5" name="Text 13"/>
          <p:cNvSpPr/>
          <p:nvPr/>
        </p:nvSpPr>
        <p:spPr>
          <a:xfrm>
            <a:off x="960120" y="3877056"/>
            <a:ext cx="4572000" cy="420624"/>
          </a:xfrm>
          <a:prstGeom prst="rect">
            <a:avLst/>
          </a:prstGeom>
          <a:noFill/>
          <a:ln/>
        </p:spPr>
        <p:txBody>
          <a:bodyPr wrap="square" lIns="0" tIns="0" rIns="0" bIns="0" rtlCol="0" anchor="ctr"/>
          <a:lstStyle/>
          <a:p>
            <a:pPr algn="l" indent="0" marL="0">
              <a:buNone/>
            </a:pPr>
            <a:r>
              <a:rPr lang="en-US" sz="1250" dirty="0">
                <a:solidFill>
                  <a:srgbClr val="4A5A68"/>
                </a:solidFill>
                <a:latin typeface="Calibri" pitchFamily="34" charset="0"/>
                <a:ea typeface="Calibri" pitchFamily="34" charset="-122"/>
                <a:cs typeface="Calibri" pitchFamily="34" charset="-120"/>
              </a:rPr>
              <a:t>Evaluated medication adherence across patients.</a:t>
            </a:r>
            <a:endParaRPr lang="en-US" sz="1250" dirty="0"/>
          </a:p>
        </p:txBody>
      </p:sp>
      <p:sp>
        <p:nvSpPr>
          <p:cNvPr id="16" name="Shape 14"/>
          <p:cNvSpPr/>
          <p:nvPr/>
        </p:nvSpPr>
        <p:spPr>
          <a:xfrm>
            <a:off x="502920" y="4480560"/>
            <a:ext cx="310896" cy="310896"/>
          </a:xfrm>
          <a:prstGeom prst="ellipse">
            <a:avLst/>
          </a:prstGeom>
          <a:solidFill>
            <a:srgbClr val="D9534F"/>
          </a:solidFill>
          <a:ln/>
        </p:spPr>
      </p:sp>
      <p:sp>
        <p:nvSpPr>
          <p:cNvPr id="17" name="Text 15"/>
          <p:cNvSpPr/>
          <p:nvPr/>
        </p:nvSpPr>
        <p:spPr>
          <a:xfrm>
            <a:off x="502920" y="4480560"/>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8" name="Text 16"/>
          <p:cNvSpPr/>
          <p:nvPr/>
        </p:nvSpPr>
        <p:spPr>
          <a:xfrm>
            <a:off x="960120" y="4425696"/>
            <a:ext cx="4572000" cy="420624"/>
          </a:xfrm>
          <a:prstGeom prst="rect">
            <a:avLst/>
          </a:prstGeom>
          <a:noFill/>
          <a:ln/>
        </p:spPr>
        <p:txBody>
          <a:bodyPr wrap="square" lIns="0" tIns="0" rIns="0" bIns="0" rtlCol="0" anchor="ctr"/>
          <a:lstStyle/>
          <a:p>
            <a:pPr algn="l" indent="0" marL="0">
              <a:buNone/>
            </a:pPr>
            <a:r>
              <a:rPr lang="en-US" sz="1250" dirty="0">
                <a:solidFill>
                  <a:srgbClr val="4A5A68"/>
                </a:solidFill>
                <a:latin typeface="Calibri" pitchFamily="34" charset="0"/>
                <a:ea typeface="Calibri" pitchFamily="34" charset="-122"/>
                <a:cs typeface="Calibri" pitchFamily="34" charset="-120"/>
              </a:rPr>
              <a:t>Compared treatment effectiveness by drug class.</a:t>
            </a:r>
            <a:endParaRPr lang="en-US" sz="1250" dirty="0"/>
          </a:p>
        </p:txBody>
      </p:sp>
      <p:sp>
        <p:nvSpPr>
          <p:cNvPr id="19" name="Shape 17"/>
          <p:cNvSpPr/>
          <p:nvPr/>
        </p:nvSpPr>
        <p:spPr>
          <a:xfrm>
            <a:off x="502920" y="5029200"/>
            <a:ext cx="310896" cy="310896"/>
          </a:xfrm>
          <a:prstGeom prst="ellipse">
            <a:avLst/>
          </a:prstGeom>
          <a:solidFill>
            <a:srgbClr val="3B82C4"/>
          </a:solidFill>
          <a:ln/>
        </p:spPr>
      </p:sp>
      <p:sp>
        <p:nvSpPr>
          <p:cNvPr id="20" name="Text 18"/>
          <p:cNvSpPr/>
          <p:nvPr/>
        </p:nvSpPr>
        <p:spPr>
          <a:xfrm>
            <a:off x="502920" y="5029200"/>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1" name="Text 19"/>
          <p:cNvSpPr/>
          <p:nvPr/>
        </p:nvSpPr>
        <p:spPr>
          <a:xfrm>
            <a:off x="960120" y="4974336"/>
            <a:ext cx="4572000" cy="420624"/>
          </a:xfrm>
          <a:prstGeom prst="rect">
            <a:avLst/>
          </a:prstGeom>
          <a:noFill/>
          <a:ln/>
        </p:spPr>
        <p:txBody>
          <a:bodyPr wrap="square" lIns="0" tIns="0" rIns="0" bIns="0" rtlCol="0" anchor="ctr"/>
          <a:lstStyle/>
          <a:p>
            <a:pPr algn="l" indent="0" marL="0">
              <a:buNone/>
            </a:pPr>
            <a:r>
              <a:rPr lang="en-US" sz="1250" dirty="0">
                <a:solidFill>
                  <a:srgbClr val="4A5A68"/>
                </a:solidFill>
                <a:latin typeface="Calibri" pitchFamily="34" charset="0"/>
                <a:ea typeface="Calibri" pitchFamily="34" charset="-122"/>
                <a:cs typeface="Calibri" pitchFamily="34" charset="-120"/>
              </a:rPr>
              <a:t>Calculated average systolic blood pressure reduction.</a:t>
            </a:r>
            <a:endParaRPr lang="en-US" sz="1250" dirty="0"/>
          </a:p>
        </p:txBody>
      </p:sp>
      <p:sp>
        <p:nvSpPr>
          <p:cNvPr id="22" name="Shape 20"/>
          <p:cNvSpPr/>
          <p:nvPr/>
        </p:nvSpPr>
        <p:spPr>
          <a:xfrm>
            <a:off x="502920" y="5577840"/>
            <a:ext cx="310896" cy="310896"/>
          </a:xfrm>
          <a:prstGeom prst="ellipse">
            <a:avLst/>
          </a:prstGeom>
          <a:solidFill>
            <a:srgbClr val="2E8B57"/>
          </a:solidFill>
          <a:ln/>
        </p:spPr>
      </p:sp>
      <p:sp>
        <p:nvSpPr>
          <p:cNvPr id="23" name="Text 21"/>
          <p:cNvSpPr/>
          <p:nvPr/>
        </p:nvSpPr>
        <p:spPr>
          <a:xfrm>
            <a:off x="502920" y="5577840"/>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4" name="Text 22"/>
          <p:cNvSpPr/>
          <p:nvPr/>
        </p:nvSpPr>
        <p:spPr>
          <a:xfrm>
            <a:off x="960120" y="5522976"/>
            <a:ext cx="4572000" cy="420624"/>
          </a:xfrm>
          <a:prstGeom prst="rect">
            <a:avLst/>
          </a:prstGeom>
          <a:noFill/>
          <a:ln/>
        </p:spPr>
        <p:txBody>
          <a:bodyPr wrap="square" lIns="0" tIns="0" rIns="0" bIns="0" rtlCol="0" anchor="ctr"/>
          <a:lstStyle/>
          <a:p>
            <a:pPr algn="l" indent="0" marL="0">
              <a:buNone/>
            </a:pPr>
            <a:r>
              <a:rPr lang="en-US" sz="1250" dirty="0">
                <a:solidFill>
                  <a:srgbClr val="4A5A68"/>
                </a:solidFill>
                <a:latin typeface="Calibri" pitchFamily="34" charset="0"/>
                <a:ea typeface="Calibri" pitchFamily="34" charset="-122"/>
                <a:cs typeface="Calibri" pitchFamily="34" charset="-120"/>
              </a:rPr>
              <a:t>Generated summary statistics for dashboard development.</a:t>
            </a:r>
            <a:endParaRPr lang="en-US" sz="1250" dirty="0"/>
          </a:p>
        </p:txBody>
      </p:sp>
      <p:sp>
        <p:nvSpPr>
          <p:cNvPr id="25" name="Shape 23"/>
          <p:cNvSpPr/>
          <p:nvPr/>
        </p:nvSpPr>
        <p:spPr>
          <a:xfrm>
            <a:off x="5806440" y="1783080"/>
            <a:ext cx="5852160" cy="4617720"/>
          </a:xfrm>
          <a:prstGeom prst="rect">
            <a:avLst/>
          </a:prstGeom>
          <a:solidFill>
            <a:srgbClr val="FFFFFF"/>
          </a:solidFill>
          <a:ln w="19050">
            <a:solidFill>
              <a:srgbClr val="D7DEE5"/>
            </a:solidFill>
            <a:prstDash val="dash"/>
          </a:ln>
        </p:spPr>
      </p:sp>
      <p:sp>
        <p:nvSpPr>
          <p:cNvPr id="26" name="Text 24"/>
          <p:cNvSpPr/>
          <p:nvPr/>
        </p:nvSpPr>
        <p:spPr>
          <a:xfrm>
            <a:off x="5806440" y="1783080"/>
            <a:ext cx="5852160" cy="4617720"/>
          </a:xfrm>
          <a:prstGeom prst="rect">
            <a:avLst/>
          </a:prstGeom>
          <a:noFill/>
          <a:ln/>
        </p:spPr>
        <p:txBody>
          <a:bodyPr wrap="square" lIns="0" tIns="0" rIns="0" bIns="0" rtlCol="0" anchor="ctr"/>
          <a:lstStyle/>
          <a:p>
            <a:pPr algn="ctr" indent="0" marL="0">
              <a:buNone/>
            </a:pPr>
            <a:r>
              <a:rPr lang="en-US" sz="2000" dirty="0">
                <a:solidFill>
                  <a:srgbClr val="AEB9C2"/>
                </a:solidFill>
                <a:latin typeface="Calibri" pitchFamily="34" charset="0"/>
                <a:ea typeface="Calibri" pitchFamily="34" charset="-122"/>
                <a:cs typeface="Calibri" pitchFamily="34" charset="-120"/>
              </a:rPr>
              <a:t>🖼  </a:t>
            </a:r>
            <a:pPr algn="ctr" indent="0" marL="0">
              <a:buNone/>
            </a:pPr>
            <a:r>
              <a:rPr lang="en-US" sz="1200" i="1" dirty="0">
                <a:solidFill>
                  <a:srgbClr val="8B98A5"/>
                </a:solidFill>
                <a:latin typeface="Calibri" pitchFamily="34" charset="0"/>
                <a:ea typeface="Calibri" pitchFamily="34" charset="-122"/>
                <a:cs typeface="Calibri" pitchFamily="34" charset="-120"/>
              </a:rPr>
              <a:t>Insert SQL Query Screenshot Here</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02920" y="411480"/>
            <a:ext cx="11155680" cy="640080"/>
          </a:xfrm>
          <a:prstGeom prst="rect">
            <a:avLst/>
          </a:prstGeom>
          <a:noFill/>
          <a:ln/>
        </p:spPr>
        <p:txBody>
          <a:bodyPr wrap="square" lIns="0" tIns="0" rIns="0" bIns="0" rtlCol="0" anchor="ctr"/>
          <a:lstStyle/>
          <a:p>
            <a:pPr algn="l" indent="0" marL="0">
              <a:buNone/>
            </a:pPr>
            <a:r>
              <a:rPr lang="en-US" sz="3200" b="1" dirty="0">
                <a:solidFill>
                  <a:srgbClr val="1B3A5C"/>
                </a:solidFill>
                <a:latin typeface="Cambria" pitchFamily="34" charset="0"/>
                <a:ea typeface="Cambria" pitchFamily="34" charset="-122"/>
                <a:cs typeface="Cambria" pitchFamily="34" charset="-120"/>
              </a:rPr>
              <a:t>Interactive Excel Dashboard</a:t>
            </a:r>
            <a:endParaRPr lang="en-US" sz="3200" dirty="0"/>
          </a:p>
        </p:txBody>
      </p:sp>
      <p:sp>
        <p:nvSpPr>
          <p:cNvPr id="3" name="Text 1"/>
          <p:cNvSpPr/>
          <p:nvPr/>
        </p:nvSpPr>
        <p:spPr>
          <a:xfrm>
            <a:off x="502920" y="1737360"/>
            <a:ext cx="3383280" cy="1463040"/>
          </a:xfrm>
          <a:prstGeom prst="rect">
            <a:avLst/>
          </a:prstGeom>
          <a:noFill/>
          <a:ln/>
        </p:spPr>
        <p:txBody>
          <a:bodyPr wrap="square" lIns="0" tIns="0" rIns="0" bIns="0" rtlCol="0" anchor="ctr"/>
          <a:lstStyle/>
          <a:p>
            <a:pPr algn="l" indent="0" marL="0">
              <a:lnSpc>
                <a:spcPct val="125000"/>
              </a:lnSpc>
              <a:buNone/>
            </a:pPr>
            <a:r>
              <a:rPr lang="en-US" sz="1250" dirty="0">
                <a:solidFill>
                  <a:srgbClr val="4A5A68"/>
                </a:solidFill>
                <a:latin typeface="Calibri" pitchFamily="34" charset="0"/>
                <a:ea typeface="Calibri" pitchFamily="34" charset="-122"/>
                <a:cs typeface="Calibri" pitchFamily="34" charset="-120"/>
              </a:rPr>
              <a:t>The interactive dashboard was designed to provide healthcare stakeholders with a clear overview of hypertension treatment outcomes, combining KPIs, charts, and slicers for quick exploration.</a:t>
            </a:r>
            <a:endParaRPr lang="en-US" sz="1250" dirty="0"/>
          </a:p>
        </p:txBody>
      </p:sp>
      <p:sp>
        <p:nvSpPr>
          <p:cNvPr id="4" name="Text 2"/>
          <p:cNvSpPr/>
          <p:nvPr/>
        </p:nvSpPr>
        <p:spPr>
          <a:xfrm>
            <a:off x="502920" y="3246120"/>
            <a:ext cx="3383280" cy="320040"/>
          </a:xfrm>
          <a:prstGeom prst="rect">
            <a:avLst/>
          </a:prstGeom>
          <a:noFill/>
          <a:ln/>
        </p:spPr>
        <p:txBody>
          <a:bodyPr wrap="square" lIns="0" tIns="0" rIns="0" bIns="0" rtlCol="0" anchor="ctr"/>
          <a:lstStyle/>
          <a:p>
            <a:pPr indent="0" marL="0">
              <a:buNone/>
            </a:pPr>
            <a:r>
              <a:rPr lang="en-US" sz="1500" b="1" dirty="0">
                <a:solidFill>
                  <a:srgbClr val="1B3A5C"/>
                </a:solidFill>
                <a:latin typeface="Cambria" pitchFamily="34" charset="0"/>
                <a:ea typeface="Cambria" pitchFamily="34" charset="-122"/>
                <a:cs typeface="Cambria" pitchFamily="34" charset="-120"/>
              </a:rPr>
              <a:t>Dashboard Features</a:t>
            </a:r>
            <a:endParaRPr lang="en-US" sz="1500" dirty="0"/>
          </a:p>
        </p:txBody>
      </p:sp>
      <p:sp>
        <p:nvSpPr>
          <p:cNvPr id="5" name="Shape 3"/>
          <p:cNvSpPr/>
          <p:nvPr/>
        </p:nvSpPr>
        <p:spPr>
          <a:xfrm>
            <a:off x="502920" y="3657600"/>
            <a:ext cx="274320" cy="274320"/>
          </a:xfrm>
          <a:prstGeom prst="ellipse">
            <a:avLst/>
          </a:prstGeom>
          <a:solidFill>
            <a:srgbClr val="3B82C4"/>
          </a:solidFill>
          <a:ln/>
        </p:spPr>
      </p:sp>
      <p:sp>
        <p:nvSpPr>
          <p:cNvPr id="6" name="Text 4"/>
          <p:cNvSpPr/>
          <p:nvPr/>
        </p:nvSpPr>
        <p:spPr>
          <a:xfrm>
            <a:off x="502920" y="3657600"/>
            <a:ext cx="27432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7" name="Text 5"/>
          <p:cNvSpPr/>
          <p:nvPr/>
        </p:nvSpPr>
        <p:spPr>
          <a:xfrm>
            <a:off x="886968" y="3584448"/>
            <a:ext cx="3063240" cy="640080"/>
          </a:xfrm>
          <a:prstGeom prst="rect">
            <a:avLst/>
          </a:prstGeom>
          <a:noFill/>
          <a:ln/>
        </p:spPr>
        <p:txBody>
          <a:bodyPr wrap="square" lIns="0" tIns="0" rIns="0" bIns="0" rtlCol="0" anchor="t"/>
          <a:lstStyle/>
          <a:p>
            <a:pPr algn="l" indent="0" marL="0">
              <a:lnSpc>
                <a:spcPct val="115000"/>
              </a:lnSpc>
              <a:buNone/>
            </a:pPr>
            <a:r>
              <a:rPr lang="en-US" sz="1100" dirty="0">
                <a:solidFill>
                  <a:srgbClr val="4A5A68"/>
                </a:solidFill>
                <a:latin typeface="Calibri" pitchFamily="34" charset="0"/>
                <a:ea typeface="Calibri" pitchFamily="34" charset="-122"/>
                <a:cs typeface="Calibri" pitchFamily="34" charset="-120"/>
              </a:rPr>
              <a:t>KPI Cards: Total Patients, BP Control Rate, Non-Controlled Rate, Top Drug Class</a:t>
            </a:r>
            <a:endParaRPr lang="en-US" sz="1100" dirty="0"/>
          </a:p>
        </p:txBody>
      </p:sp>
      <p:sp>
        <p:nvSpPr>
          <p:cNvPr id="8" name="Shape 6"/>
          <p:cNvSpPr/>
          <p:nvPr/>
        </p:nvSpPr>
        <p:spPr>
          <a:xfrm>
            <a:off x="502920" y="4315968"/>
            <a:ext cx="274320" cy="274320"/>
          </a:xfrm>
          <a:prstGeom prst="ellipse">
            <a:avLst/>
          </a:prstGeom>
          <a:solidFill>
            <a:srgbClr val="2E8B57"/>
          </a:solidFill>
          <a:ln/>
        </p:spPr>
      </p:sp>
      <p:sp>
        <p:nvSpPr>
          <p:cNvPr id="9" name="Text 7"/>
          <p:cNvSpPr/>
          <p:nvPr/>
        </p:nvSpPr>
        <p:spPr>
          <a:xfrm>
            <a:off x="502920" y="4315968"/>
            <a:ext cx="27432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0" name="Text 8"/>
          <p:cNvSpPr/>
          <p:nvPr/>
        </p:nvSpPr>
        <p:spPr>
          <a:xfrm>
            <a:off x="886968" y="4242816"/>
            <a:ext cx="3063240" cy="640080"/>
          </a:xfrm>
          <a:prstGeom prst="rect">
            <a:avLst/>
          </a:prstGeom>
          <a:noFill/>
          <a:ln/>
        </p:spPr>
        <p:txBody>
          <a:bodyPr wrap="square" lIns="0" tIns="0" rIns="0" bIns="0" rtlCol="0" anchor="t"/>
          <a:lstStyle/>
          <a:p>
            <a:pPr algn="l" indent="0" marL="0">
              <a:lnSpc>
                <a:spcPct val="115000"/>
              </a:lnSpc>
              <a:buNone/>
            </a:pPr>
            <a:r>
              <a:rPr lang="en-US" sz="1100" dirty="0">
                <a:solidFill>
                  <a:srgbClr val="4A5A68"/>
                </a:solidFill>
                <a:latin typeface="Calibri" pitchFamily="34" charset="0"/>
                <a:ea typeface="Calibri" pitchFamily="34" charset="-122"/>
                <a:cs typeface="Calibri" pitchFamily="34" charset="-120"/>
              </a:rPr>
              <a:t>Interactive slicers for BP Status &amp; Medication Adherence</a:t>
            </a:r>
            <a:endParaRPr lang="en-US" sz="1100" dirty="0"/>
          </a:p>
        </p:txBody>
      </p:sp>
      <p:sp>
        <p:nvSpPr>
          <p:cNvPr id="11" name="Shape 9"/>
          <p:cNvSpPr/>
          <p:nvPr/>
        </p:nvSpPr>
        <p:spPr>
          <a:xfrm>
            <a:off x="502920" y="4974336"/>
            <a:ext cx="274320" cy="274320"/>
          </a:xfrm>
          <a:prstGeom prst="ellipse">
            <a:avLst/>
          </a:prstGeom>
          <a:solidFill>
            <a:srgbClr val="D9534F"/>
          </a:solidFill>
          <a:ln/>
        </p:spPr>
      </p:sp>
      <p:sp>
        <p:nvSpPr>
          <p:cNvPr id="12" name="Text 10"/>
          <p:cNvSpPr/>
          <p:nvPr/>
        </p:nvSpPr>
        <p:spPr>
          <a:xfrm>
            <a:off x="502920" y="4974336"/>
            <a:ext cx="27432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3" name="Text 11"/>
          <p:cNvSpPr/>
          <p:nvPr/>
        </p:nvSpPr>
        <p:spPr>
          <a:xfrm>
            <a:off x="886968" y="4901184"/>
            <a:ext cx="3063240" cy="640080"/>
          </a:xfrm>
          <a:prstGeom prst="rect">
            <a:avLst/>
          </a:prstGeom>
          <a:noFill/>
          <a:ln/>
        </p:spPr>
        <p:txBody>
          <a:bodyPr wrap="square" lIns="0" tIns="0" rIns="0" bIns="0" rtlCol="0" anchor="t"/>
          <a:lstStyle/>
          <a:p>
            <a:pPr algn="l" indent="0" marL="0">
              <a:lnSpc>
                <a:spcPct val="115000"/>
              </a:lnSpc>
              <a:buNone/>
            </a:pPr>
            <a:r>
              <a:rPr lang="en-US" sz="1100" dirty="0">
                <a:solidFill>
                  <a:srgbClr val="4A5A68"/>
                </a:solidFill>
                <a:latin typeface="Calibri" pitchFamily="34" charset="0"/>
                <a:ea typeface="Calibri" pitchFamily="34" charset="-122"/>
                <a:cs typeface="Calibri" pitchFamily="34" charset="-120"/>
              </a:rPr>
              <a:t>Visual analysis of treatment effectiveness, adherence, BP reduction &amp; age groups</a:t>
            </a:r>
            <a:endParaRPr lang="en-US" sz="1100" dirty="0"/>
          </a:p>
        </p:txBody>
      </p:sp>
      <p:sp>
        <p:nvSpPr>
          <p:cNvPr id="14" name="Shape 12"/>
          <p:cNvSpPr/>
          <p:nvPr/>
        </p:nvSpPr>
        <p:spPr>
          <a:xfrm>
            <a:off x="502920" y="5632704"/>
            <a:ext cx="274320" cy="274320"/>
          </a:xfrm>
          <a:prstGeom prst="ellipse">
            <a:avLst/>
          </a:prstGeom>
          <a:solidFill>
            <a:srgbClr val="2C3E50"/>
          </a:solidFill>
          <a:ln/>
        </p:spPr>
      </p:sp>
      <p:sp>
        <p:nvSpPr>
          <p:cNvPr id="15" name="Text 13"/>
          <p:cNvSpPr/>
          <p:nvPr/>
        </p:nvSpPr>
        <p:spPr>
          <a:xfrm>
            <a:off x="502920" y="5632704"/>
            <a:ext cx="27432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6" name="Text 14"/>
          <p:cNvSpPr/>
          <p:nvPr/>
        </p:nvSpPr>
        <p:spPr>
          <a:xfrm>
            <a:off x="886968" y="5559552"/>
            <a:ext cx="3063240" cy="640080"/>
          </a:xfrm>
          <a:prstGeom prst="rect">
            <a:avLst/>
          </a:prstGeom>
          <a:noFill/>
          <a:ln/>
        </p:spPr>
        <p:txBody>
          <a:bodyPr wrap="square" lIns="0" tIns="0" rIns="0" bIns="0" rtlCol="0" anchor="t"/>
          <a:lstStyle/>
          <a:p>
            <a:pPr algn="l" indent="0" marL="0">
              <a:lnSpc>
                <a:spcPct val="115000"/>
              </a:lnSpc>
              <a:buNone/>
            </a:pPr>
            <a:r>
              <a:rPr lang="en-US" sz="1100" dirty="0">
                <a:solidFill>
                  <a:srgbClr val="4A5A68"/>
                </a:solidFill>
                <a:latin typeface="Calibri" pitchFamily="34" charset="0"/>
                <a:ea typeface="Calibri" pitchFamily="34" charset="-122"/>
                <a:cs typeface="Calibri" pitchFamily="34" charset="-120"/>
              </a:rPr>
              <a:t>Key insights panel summarizing major findings</a:t>
            </a:r>
            <a:endParaRPr lang="en-US" sz="1100" dirty="0"/>
          </a:p>
        </p:txBody>
      </p:sp>
      <p:sp>
        <p:nvSpPr>
          <p:cNvPr id="17" name="Shape 15"/>
          <p:cNvSpPr/>
          <p:nvPr/>
        </p:nvSpPr>
        <p:spPr>
          <a:xfrm>
            <a:off x="3794760" y="1737360"/>
            <a:ext cx="7863840" cy="4663440"/>
          </a:xfrm>
          <a:prstGeom prst="rect">
            <a:avLst/>
          </a:prstGeom>
          <a:solidFill>
            <a:srgbClr val="FFFFFF"/>
          </a:solidFill>
          <a:ln w="19050">
            <a:solidFill>
              <a:srgbClr val="D7DEE5"/>
            </a:solidFill>
            <a:prstDash val="dash"/>
          </a:ln>
        </p:spPr>
      </p:sp>
      <p:sp>
        <p:nvSpPr>
          <p:cNvPr id="18" name="Text 16"/>
          <p:cNvSpPr/>
          <p:nvPr/>
        </p:nvSpPr>
        <p:spPr>
          <a:xfrm>
            <a:off x="3794760" y="1737360"/>
            <a:ext cx="7863840" cy="4663440"/>
          </a:xfrm>
          <a:prstGeom prst="rect">
            <a:avLst/>
          </a:prstGeom>
          <a:noFill/>
          <a:ln/>
        </p:spPr>
        <p:txBody>
          <a:bodyPr wrap="square" lIns="0" tIns="0" rIns="0" bIns="0" rtlCol="0" anchor="ctr"/>
          <a:lstStyle/>
          <a:p>
            <a:pPr algn="ctr" indent="0" marL="0">
              <a:buNone/>
            </a:pPr>
            <a:r>
              <a:rPr lang="en-US" sz="2000" dirty="0">
                <a:solidFill>
                  <a:srgbClr val="AEB9C2"/>
                </a:solidFill>
                <a:latin typeface="Calibri" pitchFamily="34" charset="0"/>
                <a:ea typeface="Calibri" pitchFamily="34" charset="-122"/>
                <a:cs typeface="Calibri" pitchFamily="34" charset="-120"/>
              </a:rPr>
              <a:t>🖼  </a:t>
            </a:r>
            <a:pPr algn="ctr" indent="0" marL="0">
              <a:buNone/>
            </a:pPr>
            <a:r>
              <a:rPr lang="en-US" sz="1200" i="1" dirty="0">
                <a:solidFill>
                  <a:srgbClr val="8B98A5"/>
                </a:solidFill>
                <a:latin typeface="Calibri" pitchFamily="34" charset="0"/>
                <a:ea typeface="Calibri" pitchFamily="34" charset="-122"/>
                <a:cs typeface="Calibri" pitchFamily="34" charset="-120"/>
              </a:rPr>
              <a:t>Insert Full Dashboard Screenshot Here</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02920" y="411480"/>
            <a:ext cx="11155680" cy="640080"/>
          </a:xfrm>
          <a:prstGeom prst="rect">
            <a:avLst/>
          </a:prstGeom>
          <a:noFill/>
          <a:ln/>
        </p:spPr>
        <p:txBody>
          <a:bodyPr wrap="square" lIns="0" tIns="0" rIns="0" bIns="0" rtlCol="0" anchor="ctr"/>
          <a:lstStyle/>
          <a:p>
            <a:pPr algn="l" indent="0" marL="0">
              <a:buNone/>
            </a:pPr>
            <a:r>
              <a:rPr lang="en-US" sz="3200" b="1" dirty="0">
                <a:solidFill>
                  <a:srgbClr val="1B3A5C"/>
                </a:solidFill>
                <a:latin typeface="Cambria" pitchFamily="34" charset="0"/>
                <a:ea typeface="Cambria" pitchFamily="34" charset="-122"/>
                <a:cs typeface="Cambria" pitchFamily="34" charset="-120"/>
              </a:rPr>
              <a:t>Key Findings</a:t>
            </a:r>
            <a:endParaRPr lang="en-US" sz="3200" dirty="0"/>
          </a:p>
        </p:txBody>
      </p:sp>
      <p:sp>
        <p:nvSpPr>
          <p:cNvPr id="3" name="Shape 1"/>
          <p:cNvSpPr/>
          <p:nvPr/>
        </p:nvSpPr>
        <p:spPr>
          <a:xfrm>
            <a:off x="502920" y="1691640"/>
            <a:ext cx="5417820" cy="1965960"/>
          </a:xfrm>
          <a:prstGeom prst="rect">
            <a:avLst>
              <a:gd name="adj" fmla="val 3256"/>
            </a:avLst>
          </a:prstGeom>
          <a:solidFill>
            <a:srgbClr val="FFFFFF"/>
          </a:solidFill>
          <a:ln w="12700">
            <a:solidFill>
              <a:srgbClr val="D7DEE5"/>
            </a:solidFill>
            <a:prstDash val="solid"/>
          </a:ln>
          <a:effectLst>
            <a:outerShdw sx="100000" sy="100000" kx="0" ky="0" algn="bl" rotWithShape="0" blurRad="76200" dist="25400" dir="5400000">
              <a:srgbClr val="1B3A5C">
                <a:alpha val="18000"/>
              </a:srgbClr>
            </a:outerShdw>
          </a:effectLst>
        </p:spPr>
      </p:sp>
      <p:sp>
        <p:nvSpPr>
          <p:cNvPr id="4" name="Text 2"/>
          <p:cNvSpPr/>
          <p:nvPr/>
        </p:nvSpPr>
        <p:spPr>
          <a:xfrm>
            <a:off x="640080" y="1828800"/>
            <a:ext cx="457200" cy="365760"/>
          </a:xfrm>
          <a:prstGeom prst="rect">
            <a:avLst/>
          </a:prstGeom>
          <a:noFill/>
          <a:ln/>
        </p:spPr>
        <p:txBody>
          <a:bodyPr wrap="square" lIns="0" tIns="0" rIns="0" bIns="0" rtlCol="0" anchor="ctr"/>
          <a:lstStyle/>
          <a:p>
            <a:pPr indent="0" marL="0">
              <a:buNone/>
            </a:pPr>
            <a:r>
              <a:rPr lang="en-US" sz="2000" dirty="0">
                <a:solidFill>
                  <a:srgbClr val="000000"/>
                </a:solidFill>
              </a:rPr>
              <a:t>📊</a:t>
            </a:r>
            <a:endParaRPr lang="en-US" sz="2000" dirty="0"/>
          </a:p>
        </p:txBody>
      </p:sp>
      <p:sp>
        <p:nvSpPr>
          <p:cNvPr id="5" name="Text 3"/>
          <p:cNvSpPr/>
          <p:nvPr/>
        </p:nvSpPr>
        <p:spPr>
          <a:xfrm>
            <a:off x="1069848" y="1828800"/>
            <a:ext cx="2431161" cy="365760"/>
          </a:xfrm>
          <a:prstGeom prst="rect">
            <a:avLst/>
          </a:prstGeom>
          <a:noFill/>
          <a:ln/>
        </p:spPr>
        <p:txBody>
          <a:bodyPr wrap="square" lIns="0" tIns="0" rIns="0" bIns="0" rtlCol="0" anchor="ctr"/>
          <a:lstStyle/>
          <a:p>
            <a:pPr indent="0" marL="0">
              <a:buNone/>
            </a:pPr>
            <a:r>
              <a:rPr lang="en-US" sz="1350" b="1" dirty="0">
                <a:solidFill>
                  <a:srgbClr val="3B82C4"/>
                </a:solidFill>
                <a:latin typeface="Cambria" pitchFamily="34" charset="0"/>
                <a:ea typeface="Cambria" pitchFamily="34" charset="-122"/>
                <a:cs typeface="Cambria" pitchFamily="34" charset="-120"/>
              </a:rPr>
              <a:t>Blood Pressure Control</a:t>
            </a:r>
            <a:endParaRPr lang="en-US" sz="1350" dirty="0"/>
          </a:p>
        </p:txBody>
      </p:sp>
      <p:sp>
        <p:nvSpPr>
          <p:cNvPr id="6" name="Text 4"/>
          <p:cNvSpPr/>
          <p:nvPr/>
        </p:nvSpPr>
        <p:spPr>
          <a:xfrm>
            <a:off x="685800" y="2240280"/>
            <a:ext cx="2659761" cy="1280160"/>
          </a:xfrm>
          <a:prstGeom prst="rect">
            <a:avLst/>
          </a:prstGeom>
          <a:noFill/>
          <a:ln/>
        </p:spPr>
        <p:txBody>
          <a:bodyPr wrap="square" lIns="0" tIns="0" rIns="0" bIns="0" rtlCol="0" anchor="t"/>
          <a:lstStyle/>
          <a:p>
            <a:pPr algn="l" marL="342900" indent="-342900">
              <a:lnSpc>
                <a:spcPct val="115000"/>
              </a:lnSpc>
              <a:spcAft>
                <a:spcPts val="600"/>
              </a:spcAft>
              <a:buSzPct val="100000"/>
              <a:buChar char="●"/>
            </a:pPr>
            <a:r>
              <a:rPr lang="en-US" sz="1050" dirty="0">
                <a:solidFill>
                  <a:srgbClr val="4A5A68"/>
                </a:solidFill>
                <a:latin typeface="Calibri" pitchFamily="34" charset="0"/>
                <a:ea typeface="Calibri" pitchFamily="34" charset="-122"/>
                <a:cs typeface="Calibri" pitchFamily="34" charset="-120"/>
              </a:rPr>
              <a:t>Only 9.43% of patients achieved controlled blood pressure after treatment.</a:t>
            </a:r>
            <a:endParaRPr lang="en-US" sz="1050" dirty="0"/>
          </a:p>
          <a:p>
            <a:pPr algn="l" marL="342900" indent="-342900">
              <a:lnSpc>
                <a:spcPct val="115000"/>
              </a:lnSpc>
              <a:spcAft>
                <a:spcPts val="600"/>
              </a:spcAft>
              <a:buSzPct val="100000"/>
              <a:buChar char="●"/>
            </a:pPr>
            <a:r>
              <a:rPr lang="en-US" sz="1050" dirty="0">
                <a:solidFill>
                  <a:srgbClr val="4A5A68"/>
                </a:solidFill>
                <a:latin typeface="Calibri" pitchFamily="34" charset="0"/>
                <a:ea typeface="Calibri" pitchFamily="34" charset="-122"/>
                <a:cs typeface="Calibri" pitchFamily="34" charset="-120"/>
              </a:rPr>
              <a:t>90.57% remained uncontrolled, indicating a need for improved treatment strategies.</a:t>
            </a:r>
            <a:endParaRPr lang="en-US" sz="1050" dirty="0"/>
          </a:p>
        </p:txBody>
      </p:sp>
      <p:sp>
        <p:nvSpPr>
          <p:cNvPr id="7" name="Shape 5"/>
          <p:cNvSpPr/>
          <p:nvPr/>
        </p:nvSpPr>
        <p:spPr>
          <a:xfrm>
            <a:off x="3574161" y="1828800"/>
            <a:ext cx="2117979" cy="1691640"/>
          </a:xfrm>
          <a:prstGeom prst="rect">
            <a:avLst/>
          </a:prstGeom>
          <a:solidFill>
            <a:srgbClr val="FFFFFF"/>
          </a:solidFill>
          <a:ln w="19050">
            <a:solidFill>
              <a:srgbClr val="D7DEE5"/>
            </a:solidFill>
            <a:prstDash val="dash"/>
          </a:ln>
        </p:spPr>
      </p:sp>
      <p:sp>
        <p:nvSpPr>
          <p:cNvPr id="8" name="Text 6"/>
          <p:cNvSpPr/>
          <p:nvPr/>
        </p:nvSpPr>
        <p:spPr>
          <a:xfrm>
            <a:off x="3574161" y="1828800"/>
            <a:ext cx="2117979" cy="1691640"/>
          </a:xfrm>
          <a:prstGeom prst="rect">
            <a:avLst/>
          </a:prstGeom>
          <a:noFill/>
          <a:ln/>
        </p:spPr>
        <p:txBody>
          <a:bodyPr wrap="square" lIns="0" tIns="0" rIns="0" bIns="0" rtlCol="0" anchor="ctr"/>
          <a:lstStyle/>
          <a:p>
            <a:pPr algn="ctr" indent="0" marL="0">
              <a:buNone/>
            </a:pPr>
            <a:r>
              <a:rPr lang="en-US" sz="2000" dirty="0">
                <a:solidFill>
                  <a:srgbClr val="AEB9C2"/>
                </a:solidFill>
                <a:latin typeface="Calibri" pitchFamily="34" charset="0"/>
                <a:ea typeface="Calibri" pitchFamily="34" charset="-122"/>
                <a:cs typeface="Calibri" pitchFamily="34" charset="-120"/>
              </a:rPr>
              <a:t>🖼  </a:t>
            </a:r>
            <a:pPr algn="ctr" indent="0" marL="0">
              <a:buNone/>
            </a:pPr>
            <a:r>
              <a:rPr lang="en-US" sz="1200" i="1" dirty="0">
                <a:solidFill>
                  <a:srgbClr val="8B98A5"/>
                </a:solidFill>
                <a:latin typeface="Calibri" pitchFamily="34" charset="0"/>
                <a:ea typeface="Calibri" pitchFamily="34" charset="-122"/>
                <a:cs typeface="Calibri" pitchFamily="34" charset="-120"/>
              </a:rPr>
              <a:t>Insert Visual</a:t>
            </a:r>
            <a:endParaRPr lang="en-US" sz="2000" dirty="0"/>
          </a:p>
        </p:txBody>
      </p:sp>
      <p:sp>
        <p:nvSpPr>
          <p:cNvPr id="9" name="Shape 7"/>
          <p:cNvSpPr/>
          <p:nvPr/>
        </p:nvSpPr>
        <p:spPr>
          <a:xfrm>
            <a:off x="6240780" y="1691640"/>
            <a:ext cx="5417820" cy="1965960"/>
          </a:xfrm>
          <a:prstGeom prst="rect">
            <a:avLst>
              <a:gd name="adj" fmla="val 3256"/>
            </a:avLst>
          </a:prstGeom>
          <a:solidFill>
            <a:srgbClr val="FFFFFF"/>
          </a:solidFill>
          <a:ln w="12700">
            <a:solidFill>
              <a:srgbClr val="D7DEE5"/>
            </a:solidFill>
            <a:prstDash val="solid"/>
          </a:ln>
          <a:effectLst>
            <a:outerShdw sx="100000" sy="100000" kx="0" ky="0" algn="bl" rotWithShape="0" blurRad="76200" dist="25400" dir="5400000">
              <a:srgbClr val="1B3A5C">
                <a:alpha val="18000"/>
              </a:srgbClr>
            </a:outerShdw>
          </a:effectLst>
        </p:spPr>
      </p:sp>
      <p:sp>
        <p:nvSpPr>
          <p:cNvPr id="10" name="Text 8"/>
          <p:cNvSpPr/>
          <p:nvPr/>
        </p:nvSpPr>
        <p:spPr>
          <a:xfrm>
            <a:off x="6377940" y="1828800"/>
            <a:ext cx="457200" cy="365760"/>
          </a:xfrm>
          <a:prstGeom prst="rect">
            <a:avLst/>
          </a:prstGeom>
          <a:noFill/>
          <a:ln/>
        </p:spPr>
        <p:txBody>
          <a:bodyPr wrap="square" lIns="0" tIns="0" rIns="0" bIns="0" rtlCol="0" anchor="ctr"/>
          <a:lstStyle/>
          <a:p>
            <a:pPr indent="0" marL="0">
              <a:buNone/>
            </a:pPr>
            <a:r>
              <a:rPr lang="en-US" sz="2000" dirty="0">
                <a:solidFill>
                  <a:srgbClr val="000000"/>
                </a:solidFill>
              </a:rPr>
              <a:t>💊</a:t>
            </a:r>
            <a:endParaRPr lang="en-US" sz="2000" dirty="0"/>
          </a:p>
        </p:txBody>
      </p:sp>
      <p:sp>
        <p:nvSpPr>
          <p:cNvPr id="11" name="Text 9"/>
          <p:cNvSpPr/>
          <p:nvPr/>
        </p:nvSpPr>
        <p:spPr>
          <a:xfrm>
            <a:off x="6807708" y="1828800"/>
            <a:ext cx="2431161" cy="365760"/>
          </a:xfrm>
          <a:prstGeom prst="rect">
            <a:avLst/>
          </a:prstGeom>
          <a:noFill/>
          <a:ln/>
        </p:spPr>
        <p:txBody>
          <a:bodyPr wrap="square" lIns="0" tIns="0" rIns="0" bIns="0" rtlCol="0" anchor="ctr"/>
          <a:lstStyle/>
          <a:p>
            <a:pPr indent="0" marL="0">
              <a:buNone/>
            </a:pPr>
            <a:r>
              <a:rPr lang="en-US" sz="1350" b="1" dirty="0">
                <a:solidFill>
                  <a:srgbClr val="2E8B57"/>
                </a:solidFill>
                <a:latin typeface="Cambria" pitchFamily="34" charset="0"/>
                <a:ea typeface="Cambria" pitchFamily="34" charset="-122"/>
                <a:cs typeface="Cambria" pitchFamily="34" charset="-120"/>
              </a:rPr>
              <a:t>Treatment Effectiveness</a:t>
            </a:r>
            <a:endParaRPr lang="en-US" sz="1350" dirty="0"/>
          </a:p>
        </p:txBody>
      </p:sp>
      <p:sp>
        <p:nvSpPr>
          <p:cNvPr id="12" name="Text 10"/>
          <p:cNvSpPr/>
          <p:nvPr/>
        </p:nvSpPr>
        <p:spPr>
          <a:xfrm>
            <a:off x="6423660" y="2240280"/>
            <a:ext cx="2659761" cy="1280160"/>
          </a:xfrm>
          <a:prstGeom prst="rect">
            <a:avLst/>
          </a:prstGeom>
          <a:noFill/>
          <a:ln/>
        </p:spPr>
        <p:txBody>
          <a:bodyPr wrap="square" lIns="0" tIns="0" rIns="0" bIns="0" rtlCol="0" anchor="t"/>
          <a:lstStyle/>
          <a:p>
            <a:pPr algn="l" marL="342900" indent="-342900">
              <a:lnSpc>
                <a:spcPct val="115000"/>
              </a:lnSpc>
              <a:spcAft>
                <a:spcPts val="600"/>
              </a:spcAft>
              <a:buSzPct val="100000"/>
              <a:buChar char="●"/>
            </a:pPr>
            <a:r>
              <a:rPr lang="en-US" sz="1050" dirty="0">
                <a:solidFill>
                  <a:srgbClr val="4A5A68"/>
                </a:solidFill>
                <a:latin typeface="Calibri" pitchFamily="34" charset="0"/>
                <a:ea typeface="Calibri" pitchFamily="34" charset="-122"/>
                <a:cs typeface="Calibri" pitchFamily="34" charset="-120"/>
              </a:rPr>
              <a:t>Combination Therapy recorded the highest BP control rate (21.05%).</a:t>
            </a:r>
            <a:endParaRPr lang="en-US" sz="1050" dirty="0"/>
          </a:p>
          <a:p>
            <a:pPr algn="l" marL="342900" indent="-342900">
              <a:lnSpc>
                <a:spcPct val="115000"/>
              </a:lnSpc>
              <a:spcAft>
                <a:spcPts val="600"/>
              </a:spcAft>
              <a:buSzPct val="100000"/>
              <a:buChar char="●"/>
            </a:pPr>
            <a:r>
              <a:rPr lang="en-US" sz="1050" dirty="0">
                <a:solidFill>
                  <a:srgbClr val="4A5A68"/>
                </a:solidFill>
                <a:latin typeface="Calibri" pitchFamily="34" charset="0"/>
                <a:ea typeface="Calibri" pitchFamily="34" charset="-122"/>
                <a:cs typeface="Calibri" pitchFamily="34" charset="-120"/>
              </a:rPr>
              <a:t>ACE Inhibitors showed the lowest control rate in this dataset.</a:t>
            </a:r>
            <a:endParaRPr lang="en-US" sz="1050" dirty="0"/>
          </a:p>
        </p:txBody>
      </p:sp>
      <p:sp>
        <p:nvSpPr>
          <p:cNvPr id="13" name="Shape 11"/>
          <p:cNvSpPr/>
          <p:nvPr/>
        </p:nvSpPr>
        <p:spPr>
          <a:xfrm>
            <a:off x="9312021" y="1828800"/>
            <a:ext cx="2117979" cy="1691640"/>
          </a:xfrm>
          <a:prstGeom prst="rect">
            <a:avLst/>
          </a:prstGeom>
          <a:solidFill>
            <a:srgbClr val="FFFFFF"/>
          </a:solidFill>
          <a:ln w="19050">
            <a:solidFill>
              <a:srgbClr val="D7DEE5"/>
            </a:solidFill>
            <a:prstDash val="dash"/>
          </a:ln>
        </p:spPr>
      </p:sp>
      <p:sp>
        <p:nvSpPr>
          <p:cNvPr id="14" name="Text 12"/>
          <p:cNvSpPr/>
          <p:nvPr/>
        </p:nvSpPr>
        <p:spPr>
          <a:xfrm>
            <a:off x="9312021" y="1828800"/>
            <a:ext cx="2117979" cy="1691640"/>
          </a:xfrm>
          <a:prstGeom prst="rect">
            <a:avLst/>
          </a:prstGeom>
          <a:noFill/>
          <a:ln/>
        </p:spPr>
        <p:txBody>
          <a:bodyPr wrap="square" lIns="0" tIns="0" rIns="0" bIns="0" rtlCol="0" anchor="ctr"/>
          <a:lstStyle/>
          <a:p>
            <a:pPr algn="ctr" indent="0" marL="0">
              <a:buNone/>
            </a:pPr>
            <a:r>
              <a:rPr lang="en-US" sz="2000" dirty="0">
                <a:solidFill>
                  <a:srgbClr val="AEB9C2"/>
                </a:solidFill>
                <a:latin typeface="Calibri" pitchFamily="34" charset="0"/>
                <a:ea typeface="Calibri" pitchFamily="34" charset="-122"/>
                <a:cs typeface="Calibri" pitchFamily="34" charset="-120"/>
              </a:rPr>
              <a:t>🖼  </a:t>
            </a:r>
            <a:pPr algn="ctr" indent="0" marL="0">
              <a:buNone/>
            </a:pPr>
            <a:r>
              <a:rPr lang="en-US" sz="1200" i="1" dirty="0">
                <a:solidFill>
                  <a:srgbClr val="8B98A5"/>
                </a:solidFill>
                <a:latin typeface="Calibri" pitchFamily="34" charset="0"/>
                <a:ea typeface="Calibri" pitchFamily="34" charset="-122"/>
                <a:cs typeface="Calibri" pitchFamily="34" charset="-120"/>
              </a:rPr>
              <a:t>Insert Visual</a:t>
            </a:r>
            <a:endParaRPr lang="en-US" sz="2000" dirty="0"/>
          </a:p>
        </p:txBody>
      </p:sp>
      <p:sp>
        <p:nvSpPr>
          <p:cNvPr id="15" name="Shape 13"/>
          <p:cNvSpPr/>
          <p:nvPr/>
        </p:nvSpPr>
        <p:spPr>
          <a:xfrm>
            <a:off x="502920" y="3794760"/>
            <a:ext cx="5417820" cy="1965960"/>
          </a:xfrm>
          <a:prstGeom prst="rect">
            <a:avLst>
              <a:gd name="adj" fmla="val 3256"/>
            </a:avLst>
          </a:prstGeom>
          <a:solidFill>
            <a:srgbClr val="FFFFFF"/>
          </a:solidFill>
          <a:ln w="12700">
            <a:solidFill>
              <a:srgbClr val="D7DEE5"/>
            </a:solidFill>
            <a:prstDash val="solid"/>
          </a:ln>
          <a:effectLst>
            <a:outerShdw sx="100000" sy="100000" kx="0" ky="0" algn="bl" rotWithShape="0" blurRad="76200" dist="25400" dir="5400000">
              <a:srgbClr val="1B3A5C">
                <a:alpha val="18000"/>
              </a:srgbClr>
            </a:outerShdw>
          </a:effectLst>
        </p:spPr>
      </p:sp>
      <p:sp>
        <p:nvSpPr>
          <p:cNvPr id="16" name="Text 14"/>
          <p:cNvSpPr/>
          <p:nvPr/>
        </p:nvSpPr>
        <p:spPr>
          <a:xfrm>
            <a:off x="640080" y="3931920"/>
            <a:ext cx="457200" cy="365760"/>
          </a:xfrm>
          <a:prstGeom prst="rect">
            <a:avLst/>
          </a:prstGeom>
          <a:noFill/>
          <a:ln/>
        </p:spPr>
        <p:txBody>
          <a:bodyPr wrap="square" lIns="0" tIns="0" rIns="0" bIns="0" rtlCol="0" anchor="ctr"/>
          <a:lstStyle/>
          <a:p>
            <a:pPr indent="0" marL="0">
              <a:buNone/>
            </a:pPr>
            <a:r>
              <a:rPr lang="en-US" sz="2000" dirty="0">
                <a:solidFill>
                  <a:srgbClr val="000000"/>
                </a:solidFill>
              </a:rPr>
              <a:t>💡</a:t>
            </a:r>
            <a:endParaRPr lang="en-US" sz="2000" dirty="0"/>
          </a:p>
        </p:txBody>
      </p:sp>
      <p:sp>
        <p:nvSpPr>
          <p:cNvPr id="17" name="Text 15"/>
          <p:cNvSpPr/>
          <p:nvPr/>
        </p:nvSpPr>
        <p:spPr>
          <a:xfrm>
            <a:off x="1069848" y="3931920"/>
            <a:ext cx="2431161" cy="365760"/>
          </a:xfrm>
          <a:prstGeom prst="rect">
            <a:avLst/>
          </a:prstGeom>
          <a:noFill/>
          <a:ln/>
        </p:spPr>
        <p:txBody>
          <a:bodyPr wrap="square" lIns="0" tIns="0" rIns="0" bIns="0" rtlCol="0" anchor="ctr"/>
          <a:lstStyle/>
          <a:p>
            <a:pPr indent="0" marL="0">
              <a:buNone/>
            </a:pPr>
            <a:r>
              <a:rPr lang="en-US" sz="1350" b="1" dirty="0">
                <a:solidFill>
                  <a:srgbClr val="D9534F"/>
                </a:solidFill>
                <a:latin typeface="Cambria" pitchFamily="34" charset="0"/>
                <a:ea typeface="Cambria" pitchFamily="34" charset="-122"/>
                <a:cs typeface="Cambria" pitchFamily="34" charset="-120"/>
              </a:rPr>
              <a:t>Medication Adherence</a:t>
            </a:r>
            <a:endParaRPr lang="en-US" sz="1350" dirty="0"/>
          </a:p>
        </p:txBody>
      </p:sp>
      <p:sp>
        <p:nvSpPr>
          <p:cNvPr id="18" name="Text 16"/>
          <p:cNvSpPr/>
          <p:nvPr/>
        </p:nvSpPr>
        <p:spPr>
          <a:xfrm>
            <a:off x="685800" y="4343400"/>
            <a:ext cx="2659761" cy="1280160"/>
          </a:xfrm>
          <a:prstGeom prst="rect">
            <a:avLst/>
          </a:prstGeom>
          <a:noFill/>
          <a:ln/>
        </p:spPr>
        <p:txBody>
          <a:bodyPr wrap="square" lIns="0" tIns="0" rIns="0" bIns="0" rtlCol="0" anchor="t"/>
          <a:lstStyle/>
          <a:p>
            <a:pPr algn="l" marL="342900" indent="-342900">
              <a:lnSpc>
                <a:spcPct val="115000"/>
              </a:lnSpc>
              <a:spcAft>
                <a:spcPts val="600"/>
              </a:spcAft>
              <a:buSzPct val="100000"/>
              <a:buChar char="●"/>
            </a:pPr>
            <a:r>
              <a:rPr lang="en-US" sz="1050" dirty="0">
                <a:solidFill>
                  <a:srgbClr val="4A5A68"/>
                </a:solidFill>
                <a:latin typeface="Calibri" pitchFamily="34" charset="0"/>
                <a:ea typeface="Calibri" pitchFamily="34" charset="-122"/>
                <a:cs typeface="Calibri" pitchFamily="34" charset="-120"/>
              </a:rPr>
              <a:t>Patients with good medication adherence achieved better blood pressure control than those with moderate or poor adherence.</a:t>
            </a:r>
            <a:endParaRPr lang="en-US" sz="1050" dirty="0"/>
          </a:p>
        </p:txBody>
      </p:sp>
      <p:sp>
        <p:nvSpPr>
          <p:cNvPr id="19" name="Shape 17"/>
          <p:cNvSpPr/>
          <p:nvPr/>
        </p:nvSpPr>
        <p:spPr>
          <a:xfrm>
            <a:off x="3574161" y="3931920"/>
            <a:ext cx="2117979" cy="1691640"/>
          </a:xfrm>
          <a:prstGeom prst="rect">
            <a:avLst/>
          </a:prstGeom>
          <a:solidFill>
            <a:srgbClr val="FFFFFF"/>
          </a:solidFill>
          <a:ln w="19050">
            <a:solidFill>
              <a:srgbClr val="D7DEE5"/>
            </a:solidFill>
            <a:prstDash val="dash"/>
          </a:ln>
        </p:spPr>
      </p:sp>
      <p:sp>
        <p:nvSpPr>
          <p:cNvPr id="20" name="Text 18"/>
          <p:cNvSpPr/>
          <p:nvPr/>
        </p:nvSpPr>
        <p:spPr>
          <a:xfrm>
            <a:off x="3574161" y="3931920"/>
            <a:ext cx="2117979" cy="1691640"/>
          </a:xfrm>
          <a:prstGeom prst="rect">
            <a:avLst/>
          </a:prstGeom>
          <a:noFill/>
          <a:ln/>
        </p:spPr>
        <p:txBody>
          <a:bodyPr wrap="square" lIns="0" tIns="0" rIns="0" bIns="0" rtlCol="0" anchor="ctr"/>
          <a:lstStyle/>
          <a:p>
            <a:pPr algn="ctr" indent="0" marL="0">
              <a:buNone/>
            </a:pPr>
            <a:r>
              <a:rPr lang="en-US" sz="2000" dirty="0">
                <a:solidFill>
                  <a:srgbClr val="AEB9C2"/>
                </a:solidFill>
                <a:latin typeface="Calibri" pitchFamily="34" charset="0"/>
                <a:ea typeface="Calibri" pitchFamily="34" charset="-122"/>
                <a:cs typeface="Calibri" pitchFamily="34" charset="-120"/>
              </a:rPr>
              <a:t>🖼  </a:t>
            </a:r>
            <a:pPr algn="ctr" indent="0" marL="0">
              <a:buNone/>
            </a:pPr>
            <a:r>
              <a:rPr lang="en-US" sz="1200" i="1" dirty="0">
                <a:solidFill>
                  <a:srgbClr val="8B98A5"/>
                </a:solidFill>
                <a:latin typeface="Calibri" pitchFamily="34" charset="0"/>
                <a:ea typeface="Calibri" pitchFamily="34" charset="-122"/>
                <a:cs typeface="Calibri" pitchFamily="34" charset="-120"/>
              </a:rPr>
              <a:t>Insert Visual</a:t>
            </a:r>
            <a:endParaRPr lang="en-US" sz="2000" dirty="0"/>
          </a:p>
        </p:txBody>
      </p:sp>
      <p:sp>
        <p:nvSpPr>
          <p:cNvPr id="21" name="Shape 19"/>
          <p:cNvSpPr/>
          <p:nvPr/>
        </p:nvSpPr>
        <p:spPr>
          <a:xfrm>
            <a:off x="6240780" y="3794760"/>
            <a:ext cx="5417820" cy="1965960"/>
          </a:xfrm>
          <a:prstGeom prst="rect">
            <a:avLst>
              <a:gd name="adj" fmla="val 3256"/>
            </a:avLst>
          </a:prstGeom>
          <a:solidFill>
            <a:srgbClr val="FFFFFF"/>
          </a:solidFill>
          <a:ln w="12700">
            <a:solidFill>
              <a:srgbClr val="D7DEE5"/>
            </a:solidFill>
            <a:prstDash val="solid"/>
          </a:ln>
          <a:effectLst>
            <a:outerShdw sx="100000" sy="100000" kx="0" ky="0" algn="bl" rotWithShape="0" blurRad="76200" dist="25400" dir="5400000">
              <a:srgbClr val="1B3A5C">
                <a:alpha val="18000"/>
              </a:srgbClr>
            </a:outerShdw>
          </a:effectLst>
        </p:spPr>
      </p:sp>
      <p:sp>
        <p:nvSpPr>
          <p:cNvPr id="22" name="Text 20"/>
          <p:cNvSpPr/>
          <p:nvPr/>
        </p:nvSpPr>
        <p:spPr>
          <a:xfrm>
            <a:off x="6377940" y="3931920"/>
            <a:ext cx="457200" cy="365760"/>
          </a:xfrm>
          <a:prstGeom prst="rect">
            <a:avLst/>
          </a:prstGeom>
          <a:noFill/>
          <a:ln/>
        </p:spPr>
        <p:txBody>
          <a:bodyPr wrap="square" lIns="0" tIns="0" rIns="0" bIns="0" rtlCol="0" anchor="ctr"/>
          <a:lstStyle/>
          <a:p>
            <a:pPr indent="0" marL="0">
              <a:buNone/>
            </a:pPr>
            <a:r>
              <a:rPr lang="en-US" sz="2000" dirty="0">
                <a:solidFill>
                  <a:srgbClr val="000000"/>
                </a:solidFill>
              </a:rPr>
              <a:t>👥</a:t>
            </a:r>
            <a:endParaRPr lang="en-US" sz="2000" dirty="0"/>
          </a:p>
        </p:txBody>
      </p:sp>
      <p:sp>
        <p:nvSpPr>
          <p:cNvPr id="23" name="Text 21"/>
          <p:cNvSpPr/>
          <p:nvPr/>
        </p:nvSpPr>
        <p:spPr>
          <a:xfrm>
            <a:off x="6807708" y="3931920"/>
            <a:ext cx="2431161" cy="365760"/>
          </a:xfrm>
          <a:prstGeom prst="rect">
            <a:avLst/>
          </a:prstGeom>
          <a:noFill/>
          <a:ln/>
        </p:spPr>
        <p:txBody>
          <a:bodyPr wrap="square" lIns="0" tIns="0" rIns="0" bIns="0" rtlCol="0" anchor="ctr"/>
          <a:lstStyle/>
          <a:p>
            <a:pPr indent="0" marL="0">
              <a:buNone/>
            </a:pPr>
            <a:r>
              <a:rPr lang="en-US" sz="1350" b="1" dirty="0">
                <a:solidFill>
                  <a:srgbClr val="2C3E50"/>
                </a:solidFill>
                <a:latin typeface="Cambria" pitchFamily="34" charset="0"/>
                <a:ea typeface="Cambria" pitchFamily="34" charset="-122"/>
                <a:cs typeface="Cambria" pitchFamily="34" charset="-120"/>
              </a:rPr>
              <a:t>Age Group Analysis</a:t>
            </a:r>
            <a:endParaRPr lang="en-US" sz="1350" dirty="0"/>
          </a:p>
        </p:txBody>
      </p:sp>
      <p:sp>
        <p:nvSpPr>
          <p:cNvPr id="24" name="Text 22"/>
          <p:cNvSpPr/>
          <p:nvPr/>
        </p:nvSpPr>
        <p:spPr>
          <a:xfrm>
            <a:off x="6423660" y="4343400"/>
            <a:ext cx="2659761" cy="1280160"/>
          </a:xfrm>
          <a:prstGeom prst="rect">
            <a:avLst/>
          </a:prstGeom>
          <a:noFill/>
          <a:ln/>
        </p:spPr>
        <p:txBody>
          <a:bodyPr wrap="square" lIns="0" tIns="0" rIns="0" bIns="0" rtlCol="0" anchor="t"/>
          <a:lstStyle/>
          <a:p>
            <a:pPr algn="l" marL="342900" indent="-342900">
              <a:lnSpc>
                <a:spcPct val="115000"/>
              </a:lnSpc>
              <a:spcAft>
                <a:spcPts val="600"/>
              </a:spcAft>
              <a:buSzPct val="100000"/>
              <a:buChar char="●"/>
            </a:pPr>
            <a:r>
              <a:rPr lang="en-US" sz="1050" dirty="0">
                <a:solidFill>
                  <a:srgbClr val="4A5A68"/>
                </a:solidFill>
                <a:latin typeface="Calibri" pitchFamily="34" charset="0"/>
                <a:ea typeface="Calibri" pitchFamily="34" charset="-122"/>
                <a:cs typeface="Calibri" pitchFamily="34" charset="-120"/>
              </a:rPr>
              <a:t>Blood pressure control remained low across all age groups, highlighting persistent challenges in hypertension management.</a:t>
            </a:r>
            <a:endParaRPr lang="en-US" sz="1050" dirty="0"/>
          </a:p>
        </p:txBody>
      </p:sp>
      <p:sp>
        <p:nvSpPr>
          <p:cNvPr id="25" name="Shape 23"/>
          <p:cNvSpPr/>
          <p:nvPr/>
        </p:nvSpPr>
        <p:spPr>
          <a:xfrm>
            <a:off x="9312021" y="3931920"/>
            <a:ext cx="2117979" cy="1691640"/>
          </a:xfrm>
          <a:prstGeom prst="rect">
            <a:avLst/>
          </a:prstGeom>
          <a:solidFill>
            <a:srgbClr val="FFFFFF"/>
          </a:solidFill>
          <a:ln w="19050">
            <a:solidFill>
              <a:srgbClr val="D7DEE5"/>
            </a:solidFill>
            <a:prstDash val="dash"/>
          </a:ln>
        </p:spPr>
      </p:sp>
      <p:sp>
        <p:nvSpPr>
          <p:cNvPr id="26" name="Text 24"/>
          <p:cNvSpPr/>
          <p:nvPr/>
        </p:nvSpPr>
        <p:spPr>
          <a:xfrm>
            <a:off x="9312021" y="3931920"/>
            <a:ext cx="2117979" cy="1691640"/>
          </a:xfrm>
          <a:prstGeom prst="rect">
            <a:avLst/>
          </a:prstGeom>
          <a:noFill/>
          <a:ln/>
        </p:spPr>
        <p:txBody>
          <a:bodyPr wrap="square" lIns="0" tIns="0" rIns="0" bIns="0" rtlCol="0" anchor="ctr"/>
          <a:lstStyle/>
          <a:p>
            <a:pPr algn="ctr" indent="0" marL="0">
              <a:buNone/>
            </a:pPr>
            <a:r>
              <a:rPr lang="en-US" sz="2000" dirty="0">
                <a:solidFill>
                  <a:srgbClr val="AEB9C2"/>
                </a:solidFill>
                <a:latin typeface="Calibri" pitchFamily="34" charset="0"/>
                <a:ea typeface="Calibri" pitchFamily="34" charset="-122"/>
                <a:cs typeface="Calibri" pitchFamily="34" charset="-120"/>
              </a:rPr>
              <a:t>🖼  </a:t>
            </a:r>
            <a:pPr algn="ctr" indent="0" marL="0">
              <a:buNone/>
            </a:pPr>
            <a:r>
              <a:rPr lang="en-US" sz="1200" i="1" dirty="0">
                <a:solidFill>
                  <a:srgbClr val="8B98A5"/>
                </a:solidFill>
                <a:latin typeface="Calibri" pitchFamily="34" charset="0"/>
                <a:ea typeface="Calibri" pitchFamily="34" charset="-122"/>
                <a:cs typeface="Calibri" pitchFamily="34" charset="-120"/>
              </a:rPr>
              <a:t>Insert Visual</a:t>
            </a:r>
            <a:endParaRPr lang="en-US" sz="2000" dirty="0"/>
          </a:p>
        </p:txBody>
      </p:sp>
      <p:sp>
        <p:nvSpPr>
          <p:cNvPr id="27" name="Shape 25"/>
          <p:cNvSpPr/>
          <p:nvPr/>
        </p:nvSpPr>
        <p:spPr>
          <a:xfrm>
            <a:off x="502920" y="5943600"/>
            <a:ext cx="11155680" cy="658368"/>
          </a:xfrm>
          <a:prstGeom prst="rect">
            <a:avLst>
              <a:gd name="adj" fmla="val 9722"/>
            </a:avLst>
          </a:prstGeom>
          <a:solidFill>
            <a:srgbClr val="1B3A5C"/>
          </a:solidFill>
          <a:ln/>
          <a:effectLst>
            <a:outerShdw sx="100000" sy="100000" kx="0" ky="0" algn="bl" rotWithShape="0" blurRad="76200" dist="25400" dir="5400000">
              <a:srgbClr val="1B3A5C">
                <a:alpha val="18000"/>
              </a:srgbClr>
            </a:outerShdw>
          </a:effectLst>
        </p:spPr>
      </p:sp>
      <p:sp>
        <p:nvSpPr>
          <p:cNvPr id="28" name="Text 26"/>
          <p:cNvSpPr/>
          <p:nvPr/>
        </p:nvSpPr>
        <p:spPr>
          <a:xfrm>
            <a:off x="777240" y="5943600"/>
            <a:ext cx="10607040" cy="658368"/>
          </a:xfrm>
          <a:prstGeom prst="rect">
            <a:avLst/>
          </a:prstGeom>
          <a:noFill/>
          <a:ln/>
        </p:spPr>
        <p:txBody>
          <a:bodyPr wrap="square" lIns="0" tIns="0" rIns="0" bIns="0" rtlCol="0" anchor="ctr"/>
          <a:lstStyle/>
          <a:p>
            <a:pPr algn="l" indent="0" marL="0">
              <a:lnSpc>
                <a:spcPct val="110000"/>
              </a:lnSpc>
              <a:buNone/>
            </a:pPr>
            <a:r>
              <a:rPr lang="en-US" sz="1100" b="1" dirty="0">
                <a:solidFill>
                  <a:srgbClr val="8FD1B5"/>
                </a:solidFill>
                <a:latin typeface="Calibri" pitchFamily="34" charset="0"/>
                <a:ea typeface="Calibri" pitchFamily="34" charset="-122"/>
                <a:cs typeface="Calibri" pitchFamily="34" charset="-120"/>
              </a:rPr>
              <a:t>Why These Findings Matter:  </a:t>
            </a:r>
            <a:pPr algn="l" indent="0" marL="0">
              <a:lnSpc>
                <a:spcPct val="110000"/>
              </a:lnSpc>
              <a:buNone/>
            </a:pPr>
            <a:r>
              <a:rPr lang="en-US" sz="1100" dirty="0">
                <a:solidFill>
                  <a:srgbClr val="FFFFFF"/>
                </a:solidFill>
                <a:latin typeface="Calibri" pitchFamily="34" charset="0"/>
                <a:ea typeface="Calibri" pitchFamily="34" charset="-122"/>
                <a:cs typeface="Calibri" pitchFamily="34" charset="-120"/>
              </a:rPr>
              <a:t>These insights can help healthcare providers identify treatment gaps, improve medication adherence strategies, and support data-informed decisions aimed at better blood pressure control.</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02920" y="411480"/>
            <a:ext cx="11155680" cy="640080"/>
          </a:xfrm>
          <a:prstGeom prst="rect">
            <a:avLst/>
          </a:prstGeom>
          <a:noFill/>
          <a:ln/>
        </p:spPr>
        <p:txBody>
          <a:bodyPr wrap="square" lIns="0" tIns="0" rIns="0" bIns="0" rtlCol="0" anchor="ctr"/>
          <a:lstStyle/>
          <a:p>
            <a:pPr algn="l" indent="0" marL="0">
              <a:buNone/>
            </a:pPr>
            <a:r>
              <a:rPr lang="en-US" sz="3200" b="1" dirty="0">
                <a:solidFill>
                  <a:srgbClr val="1B3A5C"/>
                </a:solidFill>
                <a:latin typeface="Cambria" pitchFamily="34" charset="0"/>
                <a:ea typeface="Cambria" pitchFamily="34" charset="-122"/>
                <a:cs typeface="Cambria" pitchFamily="34" charset="-120"/>
              </a:rPr>
              <a:t>Recommendations</a:t>
            </a:r>
            <a:endParaRPr lang="en-US" sz="3200" dirty="0"/>
          </a:p>
        </p:txBody>
      </p:sp>
      <p:sp>
        <p:nvSpPr>
          <p:cNvPr id="3" name="Shape 1"/>
          <p:cNvSpPr/>
          <p:nvPr/>
        </p:nvSpPr>
        <p:spPr>
          <a:xfrm>
            <a:off x="502920" y="1783080"/>
            <a:ext cx="11155680" cy="768096"/>
          </a:xfrm>
          <a:prstGeom prst="rect">
            <a:avLst>
              <a:gd name="adj" fmla="val 7143"/>
            </a:avLst>
          </a:prstGeom>
          <a:solidFill>
            <a:srgbClr val="FFFFFF"/>
          </a:solidFill>
          <a:ln w="12700">
            <a:solidFill>
              <a:srgbClr val="D7DEE5"/>
            </a:solidFill>
            <a:prstDash val="solid"/>
          </a:ln>
          <a:effectLst>
            <a:outerShdw sx="100000" sy="100000" kx="0" ky="0" algn="bl" rotWithShape="0" blurRad="76200" dist="25400" dir="5400000">
              <a:srgbClr val="1B3A5C">
                <a:alpha val="18000"/>
              </a:srgbClr>
            </a:outerShdw>
          </a:effectLst>
        </p:spPr>
      </p:sp>
      <p:sp>
        <p:nvSpPr>
          <p:cNvPr id="4" name="Shape 2"/>
          <p:cNvSpPr/>
          <p:nvPr/>
        </p:nvSpPr>
        <p:spPr>
          <a:xfrm>
            <a:off x="704088" y="1947672"/>
            <a:ext cx="438912" cy="438912"/>
          </a:xfrm>
          <a:prstGeom prst="ellipse">
            <a:avLst/>
          </a:prstGeom>
          <a:solidFill>
            <a:srgbClr val="3B82C4"/>
          </a:solidFill>
          <a:ln/>
        </p:spPr>
      </p:sp>
      <p:sp>
        <p:nvSpPr>
          <p:cNvPr id="5" name="Text 3"/>
          <p:cNvSpPr/>
          <p:nvPr/>
        </p:nvSpPr>
        <p:spPr>
          <a:xfrm>
            <a:off x="704088" y="1947672"/>
            <a:ext cx="438912" cy="438912"/>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6" name="Text 4"/>
          <p:cNvSpPr/>
          <p:nvPr/>
        </p:nvSpPr>
        <p:spPr>
          <a:xfrm>
            <a:off x="1371600" y="1783080"/>
            <a:ext cx="10058400" cy="768096"/>
          </a:xfrm>
          <a:prstGeom prst="rect">
            <a:avLst/>
          </a:prstGeom>
          <a:noFill/>
          <a:ln/>
        </p:spPr>
        <p:txBody>
          <a:bodyPr wrap="square" lIns="0" tIns="0" rIns="0" bIns="0" rtlCol="0" anchor="ctr"/>
          <a:lstStyle/>
          <a:p>
            <a:pPr algn="l" indent="0" marL="0">
              <a:lnSpc>
                <a:spcPct val="110000"/>
              </a:lnSpc>
              <a:buNone/>
            </a:pPr>
            <a:r>
              <a:rPr lang="en-US" sz="1300" dirty="0">
                <a:solidFill>
                  <a:srgbClr val="1B3A5C"/>
                </a:solidFill>
                <a:latin typeface="Calibri" pitchFamily="34" charset="0"/>
                <a:ea typeface="Calibri" pitchFamily="34" charset="-122"/>
                <a:cs typeface="Calibri" pitchFamily="34" charset="-120"/>
              </a:rPr>
              <a:t>Strengthen medication adherence programs through patient education and regular follow-up.</a:t>
            </a:r>
            <a:endParaRPr lang="en-US" sz="1300" dirty="0"/>
          </a:p>
        </p:txBody>
      </p:sp>
      <p:sp>
        <p:nvSpPr>
          <p:cNvPr id="7" name="Shape 5"/>
          <p:cNvSpPr/>
          <p:nvPr/>
        </p:nvSpPr>
        <p:spPr>
          <a:xfrm>
            <a:off x="502920" y="2679192"/>
            <a:ext cx="11155680" cy="768096"/>
          </a:xfrm>
          <a:prstGeom prst="rect">
            <a:avLst>
              <a:gd name="adj" fmla="val 7143"/>
            </a:avLst>
          </a:prstGeom>
          <a:solidFill>
            <a:srgbClr val="FFFFFF"/>
          </a:solidFill>
          <a:ln w="12700">
            <a:solidFill>
              <a:srgbClr val="D7DEE5"/>
            </a:solidFill>
            <a:prstDash val="solid"/>
          </a:ln>
          <a:effectLst>
            <a:outerShdw sx="100000" sy="100000" kx="0" ky="0" algn="bl" rotWithShape="0" blurRad="76200" dist="25400" dir="5400000">
              <a:srgbClr val="1B3A5C">
                <a:alpha val="18000"/>
              </a:srgbClr>
            </a:outerShdw>
          </a:effectLst>
        </p:spPr>
      </p:sp>
      <p:sp>
        <p:nvSpPr>
          <p:cNvPr id="8" name="Shape 6"/>
          <p:cNvSpPr/>
          <p:nvPr/>
        </p:nvSpPr>
        <p:spPr>
          <a:xfrm>
            <a:off x="704088" y="2843784"/>
            <a:ext cx="438912" cy="438912"/>
          </a:xfrm>
          <a:prstGeom prst="ellipse">
            <a:avLst/>
          </a:prstGeom>
          <a:solidFill>
            <a:srgbClr val="2E8B57"/>
          </a:solidFill>
          <a:ln/>
        </p:spPr>
      </p:sp>
      <p:sp>
        <p:nvSpPr>
          <p:cNvPr id="9" name="Text 7"/>
          <p:cNvSpPr/>
          <p:nvPr/>
        </p:nvSpPr>
        <p:spPr>
          <a:xfrm>
            <a:off x="704088" y="2843784"/>
            <a:ext cx="438912" cy="438912"/>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0" name="Text 8"/>
          <p:cNvSpPr/>
          <p:nvPr/>
        </p:nvSpPr>
        <p:spPr>
          <a:xfrm>
            <a:off x="1371600" y="2679192"/>
            <a:ext cx="10058400" cy="768096"/>
          </a:xfrm>
          <a:prstGeom prst="rect">
            <a:avLst/>
          </a:prstGeom>
          <a:noFill/>
          <a:ln/>
        </p:spPr>
        <p:txBody>
          <a:bodyPr wrap="square" lIns="0" tIns="0" rIns="0" bIns="0" rtlCol="0" anchor="ctr"/>
          <a:lstStyle/>
          <a:p>
            <a:pPr algn="l" indent="0" marL="0">
              <a:lnSpc>
                <a:spcPct val="110000"/>
              </a:lnSpc>
              <a:buNone/>
            </a:pPr>
            <a:r>
              <a:rPr lang="en-US" sz="1300" dirty="0">
                <a:solidFill>
                  <a:srgbClr val="1B3A5C"/>
                </a:solidFill>
                <a:latin typeface="Calibri" pitchFamily="34" charset="0"/>
                <a:ea typeface="Calibri" pitchFamily="34" charset="-122"/>
                <a:cs typeface="Calibri" pitchFamily="34" charset="-120"/>
              </a:rPr>
              <a:t>Review treatment strategies for patients with uncontrolled blood pressure, especially those not responding to monotherapy.</a:t>
            </a:r>
            <a:endParaRPr lang="en-US" sz="1300" dirty="0"/>
          </a:p>
        </p:txBody>
      </p:sp>
      <p:sp>
        <p:nvSpPr>
          <p:cNvPr id="11" name="Shape 9"/>
          <p:cNvSpPr/>
          <p:nvPr/>
        </p:nvSpPr>
        <p:spPr>
          <a:xfrm>
            <a:off x="502920" y="3575304"/>
            <a:ext cx="11155680" cy="768096"/>
          </a:xfrm>
          <a:prstGeom prst="rect">
            <a:avLst>
              <a:gd name="adj" fmla="val 7143"/>
            </a:avLst>
          </a:prstGeom>
          <a:solidFill>
            <a:srgbClr val="FFFFFF"/>
          </a:solidFill>
          <a:ln w="12700">
            <a:solidFill>
              <a:srgbClr val="D7DEE5"/>
            </a:solidFill>
            <a:prstDash val="solid"/>
          </a:ln>
          <a:effectLst>
            <a:outerShdw sx="100000" sy="100000" kx="0" ky="0" algn="bl" rotWithShape="0" blurRad="76200" dist="25400" dir="5400000">
              <a:srgbClr val="1B3A5C">
                <a:alpha val="18000"/>
              </a:srgbClr>
            </a:outerShdw>
          </a:effectLst>
        </p:spPr>
      </p:sp>
      <p:sp>
        <p:nvSpPr>
          <p:cNvPr id="12" name="Shape 10"/>
          <p:cNvSpPr/>
          <p:nvPr/>
        </p:nvSpPr>
        <p:spPr>
          <a:xfrm>
            <a:off x="704088" y="3739896"/>
            <a:ext cx="438912" cy="438912"/>
          </a:xfrm>
          <a:prstGeom prst="ellipse">
            <a:avLst/>
          </a:prstGeom>
          <a:solidFill>
            <a:srgbClr val="D9534F"/>
          </a:solidFill>
          <a:ln/>
        </p:spPr>
      </p:sp>
      <p:sp>
        <p:nvSpPr>
          <p:cNvPr id="13" name="Text 11"/>
          <p:cNvSpPr/>
          <p:nvPr/>
        </p:nvSpPr>
        <p:spPr>
          <a:xfrm>
            <a:off x="704088" y="3739896"/>
            <a:ext cx="438912" cy="438912"/>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4" name="Text 12"/>
          <p:cNvSpPr/>
          <p:nvPr/>
        </p:nvSpPr>
        <p:spPr>
          <a:xfrm>
            <a:off x="1371600" y="3575304"/>
            <a:ext cx="10058400" cy="768096"/>
          </a:xfrm>
          <a:prstGeom prst="rect">
            <a:avLst/>
          </a:prstGeom>
          <a:noFill/>
          <a:ln/>
        </p:spPr>
        <p:txBody>
          <a:bodyPr wrap="square" lIns="0" tIns="0" rIns="0" bIns="0" rtlCol="0" anchor="ctr"/>
          <a:lstStyle/>
          <a:p>
            <a:pPr algn="l" indent="0" marL="0">
              <a:lnSpc>
                <a:spcPct val="110000"/>
              </a:lnSpc>
              <a:buNone/>
            </a:pPr>
            <a:r>
              <a:rPr lang="en-US" sz="1300" dirty="0">
                <a:solidFill>
                  <a:srgbClr val="1B3A5C"/>
                </a:solidFill>
                <a:latin typeface="Calibri" pitchFamily="34" charset="0"/>
                <a:ea typeface="Calibri" pitchFamily="34" charset="-122"/>
                <a:cs typeface="Calibri" pitchFamily="34" charset="-120"/>
              </a:rPr>
              <a:t>Consider Combination Therapy where clinically appropriate, as it showed the highest control rate in this analysis.</a:t>
            </a:r>
            <a:endParaRPr lang="en-US" sz="1300" dirty="0"/>
          </a:p>
        </p:txBody>
      </p:sp>
      <p:sp>
        <p:nvSpPr>
          <p:cNvPr id="15" name="Shape 13"/>
          <p:cNvSpPr/>
          <p:nvPr/>
        </p:nvSpPr>
        <p:spPr>
          <a:xfrm>
            <a:off x="502920" y="4471416"/>
            <a:ext cx="11155680" cy="768096"/>
          </a:xfrm>
          <a:prstGeom prst="rect">
            <a:avLst>
              <a:gd name="adj" fmla="val 7143"/>
            </a:avLst>
          </a:prstGeom>
          <a:solidFill>
            <a:srgbClr val="FFFFFF"/>
          </a:solidFill>
          <a:ln w="12700">
            <a:solidFill>
              <a:srgbClr val="D7DEE5"/>
            </a:solidFill>
            <a:prstDash val="solid"/>
          </a:ln>
          <a:effectLst>
            <a:outerShdw sx="100000" sy="100000" kx="0" ky="0" algn="bl" rotWithShape="0" blurRad="76200" dist="25400" dir="5400000">
              <a:srgbClr val="1B3A5C">
                <a:alpha val="18000"/>
              </a:srgbClr>
            </a:outerShdw>
          </a:effectLst>
        </p:spPr>
      </p:sp>
      <p:sp>
        <p:nvSpPr>
          <p:cNvPr id="16" name="Shape 14"/>
          <p:cNvSpPr/>
          <p:nvPr/>
        </p:nvSpPr>
        <p:spPr>
          <a:xfrm>
            <a:off x="704088" y="4636008"/>
            <a:ext cx="438912" cy="438912"/>
          </a:xfrm>
          <a:prstGeom prst="ellipse">
            <a:avLst/>
          </a:prstGeom>
          <a:solidFill>
            <a:srgbClr val="2C3E50"/>
          </a:solidFill>
          <a:ln/>
        </p:spPr>
      </p:sp>
      <p:sp>
        <p:nvSpPr>
          <p:cNvPr id="17" name="Text 15"/>
          <p:cNvSpPr/>
          <p:nvPr/>
        </p:nvSpPr>
        <p:spPr>
          <a:xfrm>
            <a:off x="704088" y="4636008"/>
            <a:ext cx="438912" cy="438912"/>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18" name="Text 16"/>
          <p:cNvSpPr/>
          <p:nvPr/>
        </p:nvSpPr>
        <p:spPr>
          <a:xfrm>
            <a:off x="1371600" y="4471416"/>
            <a:ext cx="10058400" cy="768096"/>
          </a:xfrm>
          <a:prstGeom prst="rect">
            <a:avLst/>
          </a:prstGeom>
          <a:noFill/>
          <a:ln/>
        </p:spPr>
        <p:txBody>
          <a:bodyPr wrap="square" lIns="0" tIns="0" rIns="0" bIns="0" rtlCol="0" anchor="ctr"/>
          <a:lstStyle/>
          <a:p>
            <a:pPr algn="l" indent="0" marL="0">
              <a:lnSpc>
                <a:spcPct val="110000"/>
              </a:lnSpc>
              <a:buNone/>
            </a:pPr>
            <a:r>
              <a:rPr lang="en-US" sz="1300" dirty="0">
                <a:solidFill>
                  <a:srgbClr val="1B3A5C"/>
                </a:solidFill>
                <a:latin typeface="Calibri" pitchFamily="34" charset="0"/>
                <a:ea typeface="Calibri" pitchFamily="34" charset="-122"/>
                <a:cs typeface="Calibri" pitchFamily="34" charset="-120"/>
              </a:rPr>
              <a:t>Implement routine monitoring to identify patients at risk of poor blood pressure control earlier.</a:t>
            </a:r>
            <a:endParaRPr lang="en-US" sz="1300" dirty="0"/>
          </a:p>
        </p:txBody>
      </p:sp>
      <p:sp>
        <p:nvSpPr>
          <p:cNvPr id="19" name="Shape 17"/>
          <p:cNvSpPr/>
          <p:nvPr/>
        </p:nvSpPr>
        <p:spPr>
          <a:xfrm>
            <a:off x="502920" y="5367528"/>
            <a:ext cx="11155680" cy="768096"/>
          </a:xfrm>
          <a:prstGeom prst="rect">
            <a:avLst>
              <a:gd name="adj" fmla="val 7143"/>
            </a:avLst>
          </a:prstGeom>
          <a:solidFill>
            <a:srgbClr val="FFFFFF"/>
          </a:solidFill>
          <a:ln w="12700">
            <a:solidFill>
              <a:srgbClr val="D7DEE5"/>
            </a:solidFill>
            <a:prstDash val="solid"/>
          </a:ln>
          <a:effectLst>
            <a:outerShdw sx="100000" sy="100000" kx="0" ky="0" algn="bl" rotWithShape="0" blurRad="76200" dist="25400" dir="5400000">
              <a:srgbClr val="1B3A5C">
                <a:alpha val="18000"/>
              </a:srgbClr>
            </a:outerShdw>
          </a:effectLst>
        </p:spPr>
      </p:sp>
      <p:sp>
        <p:nvSpPr>
          <p:cNvPr id="20" name="Shape 18"/>
          <p:cNvSpPr/>
          <p:nvPr/>
        </p:nvSpPr>
        <p:spPr>
          <a:xfrm>
            <a:off x="704088" y="5532120"/>
            <a:ext cx="438912" cy="438912"/>
          </a:xfrm>
          <a:prstGeom prst="ellipse">
            <a:avLst/>
          </a:prstGeom>
          <a:solidFill>
            <a:srgbClr val="1B3A5C"/>
          </a:solidFill>
          <a:ln/>
        </p:spPr>
      </p:sp>
      <p:sp>
        <p:nvSpPr>
          <p:cNvPr id="21" name="Text 19"/>
          <p:cNvSpPr/>
          <p:nvPr/>
        </p:nvSpPr>
        <p:spPr>
          <a:xfrm>
            <a:off x="704088" y="5532120"/>
            <a:ext cx="438912" cy="438912"/>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5</a:t>
            </a:r>
            <a:endParaRPr lang="en-US" sz="1700" dirty="0"/>
          </a:p>
        </p:txBody>
      </p:sp>
      <p:sp>
        <p:nvSpPr>
          <p:cNvPr id="22" name="Text 20"/>
          <p:cNvSpPr/>
          <p:nvPr/>
        </p:nvSpPr>
        <p:spPr>
          <a:xfrm>
            <a:off x="1371600" y="5367528"/>
            <a:ext cx="10058400" cy="768096"/>
          </a:xfrm>
          <a:prstGeom prst="rect">
            <a:avLst/>
          </a:prstGeom>
          <a:noFill/>
          <a:ln/>
        </p:spPr>
        <p:txBody>
          <a:bodyPr wrap="square" lIns="0" tIns="0" rIns="0" bIns="0" rtlCol="0" anchor="ctr"/>
          <a:lstStyle/>
          <a:p>
            <a:pPr algn="l" indent="0" marL="0">
              <a:lnSpc>
                <a:spcPct val="110000"/>
              </a:lnSpc>
              <a:buNone/>
            </a:pPr>
            <a:r>
              <a:rPr lang="en-US" sz="1300" dirty="0">
                <a:solidFill>
                  <a:srgbClr val="1B3A5C"/>
                </a:solidFill>
                <a:latin typeface="Calibri" pitchFamily="34" charset="0"/>
                <a:ea typeface="Calibri" pitchFamily="34" charset="-122"/>
                <a:cs typeface="Calibri" pitchFamily="34" charset="-120"/>
              </a:rPr>
              <a:t>Use data-driven dashboards to support clinical decision-making and track treatment outcomes over time.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3314F"/>
        </a:solidFill>
      </p:bgPr>
    </p:bg>
    <p:spTree>
      <p:nvGrpSpPr>
        <p:cNvPr id="1" name=""/>
        <p:cNvGrpSpPr/>
        <p:nvPr/>
      </p:nvGrpSpPr>
      <p:grpSpPr>
        <a:xfrm>
          <a:off x="0" y="0"/>
          <a:ext cx="0" cy="0"/>
          <a:chOff x="0" y="0"/>
          <a:chExt cx="0" cy="0"/>
        </a:xfrm>
      </p:grpSpPr>
      <p:sp>
        <p:nvSpPr>
          <p:cNvPr id="2" name="Shape 0"/>
          <p:cNvSpPr/>
          <p:nvPr/>
        </p:nvSpPr>
        <p:spPr>
          <a:xfrm>
            <a:off x="10469880" y="502920"/>
            <a:ext cx="777240" cy="777240"/>
          </a:xfrm>
          <a:prstGeom prst="ellipse">
            <a:avLst/>
          </a:prstGeom>
          <a:solidFill>
            <a:srgbClr val="2E8B57"/>
          </a:solidFill>
          <a:ln/>
        </p:spPr>
      </p:sp>
      <p:sp>
        <p:nvSpPr>
          <p:cNvPr id="3" name="Text 1"/>
          <p:cNvSpPr/>
          <p:nvPr/>
        </p:nvSpPr>
        <p:spPr>
          <a:xfrm>
            <a:off x="10469880" y="502920"/>
            <a:ext cx="777240" cy="77724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4" name="Text 2"/>
          <p:cNvSpPr/>
          <p:nvPr/>
        </p:nvSpPr>
        <p:spPr>
          <a:xfrm>
            <a:off x="502920" y="502920"/>
            <a:ext cx="1115568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Conclusion</a:t>
            </a:r>
            <a:endParaRPr lang="en-US" sz="3200" dirty="0"/>
          </a:p>
        </p:txBody>
      </p:sp>
      <p:sp>
        <p:nvSpPr>
          <p:cNvPr id="5" name="Shape 3"/>
          <p:cNvSpPr/>
          <p:nvPr/>
        </p:nvSpPr>
        <p:spPr>
          <a:xfrm>
            <a:off x="502920" y="1280160"/>
            <a:ext cx="1463040" cy="0"/>
          </a:xfrm>
          <a:prstGeom prst="line">
            <a:avLst/>
          </a:prstGeom>
          <a:noFill/>
          <a:ln w="25400">
            <a:solidFill>
              <a:srgbClr val="3B82C4"/>
            </a:solidFill>
            <a:prstDash val="solid"/>
          </a:ln>
        </p:spPr>
      </p:sp>
      <p:sp>
        <p:nvSpPr>
          <p:cNvPr id="6" name="Text 4"/>
          <p:cNvSpPr/>
          <p:nvPr/>
        </p:nvSpPr>
        <p:spPr>
          <a:xfrm>
            <a:off x="502920" y="1737360"/>
            <a:ext cx="11155680" cy="4206240"/>
          </a:xfrm>
          <a:prstGeom prst="rect">
            <a:avLst/>
          </a:prstGeom>
          <a:noFill/>
          <a:ln/>
        </p:spPr>
        <p:txBody>
          <a:bodyPr wrap="square" lIns="0" tIns="0" rIns="0" bIns="0" rtlCol="0" anchor="ctr"/>
          <a:lstStyle/>
          <a:p>
            <a:pPr algn="l" indent="0" marL="0">
              <a:lnSpc>
                <a:spcPct val="135000"/>
              </a:lnSpc>
              <a:spcAft>
                <a:spcPts val="1600"/>
              </a:spcAft>
              <a:buNone/>
            </a:pPr>
            <a:r>
              <a:rPr lang="en-US" sz="1700" dirty="0">
                <a:solidFill>
                  <a:srgbClr val="DCE6F0"/>
                </a:solidFill>
                <a:latin typeface="Calibri" pitchFamily="34" charset="0"/>
                <a:ea typeface="Calibri" pitchFamily="34" charset="-122"/>
                <a:cs typeface="Calibri" pitchFamily="34" charset="-120"/>
              </a:rPr>
              <a:t>This project demonstrates how healthcare data can be transformed into meaningful insights using SQL Server and Microsoft Excel.</a:t>
            </a:r>
            <a:endParaRPr lang="en-US" sz="1700" dirty="0"/>
          </a:p>
          <a:p>
            <a:pPr algn="l" indent="0" marL="0">
              <a:lnSpc>
                <a:spcPct val="135000"/>
              </a:lnSpc>
              <a:spcAft>
                <a:spcPts val="1600"/>
              </a:spcAft>
              <a:buNone/>
            </a:pPr>
            <a:r>
              <a:rPr lang="en-US" sz="1700" dirty="0">
                <a:solidFill>
                  <a:srgbClr val="DCE6F0"/>
                </a:solidFill>
                <a:latin typeface="Calibri" pitchFamily="34" charset="0"/>
                <a:ea typeface="Calibri" pitchFamily="34" charset="-122"/>
                <a:cs typeface="Calibri" pitchFamily="34" charset="-120"/>
              </a:rPr>
              <a:t>By combining data cleaning, SQL analysis, interactive dashboarding, and data storytelling, the project provides a practical approach to monitoring hypertension treatment outcomes and supporting evidence-based decision-making.</a:t>
            </a:r>
            <a:endParaRPr lang="en-US" sz="1700" dirty="0"/>
          </a:p>
          <a:p>
            <a:pPr algn="l" indent="0" marL="0">
              <a:lnSpc>
                <a:spcPct val="135000"/>
              </a:lnSpc>
              <a:spcAft>
                <a:spcPts val="1600"/>
              </a:spcAft>
              <a:buNone/>
            </a:pPr>
            <a:r>
              <a:rPr lang="en-US" sz="1700" dirty="0">
                <a:solidFill>
                  <a:srgbClr val="DCE6F0"/>
                </a:solidFill>
                <a:latin typeface="Calibri" pitchFamily="34" charset="0"/>
                <a:ea typeface="Calibri" pitchFamily="34" charset="-122"/>
                <a:cs typeface="Calibri" pitchFamily="34" charset="-120"/>
              </a:rPr>
              <a:t>Although this analysis was conducted on a sample dataset, the workflow reflects a real-world healthcare analytics process that can be adapted to larger clinical datasets.</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3314F"/>
        </a:solidFill>
      </p:bgPr>
    </p:bg>
    <p:spTree>
      <p:nvGrpSpPr>
        <p:cNvPr id="1" name=""/>
        <p:cNvGrpSpPr/>
        <p:nvPr/>
      </p:nvGrpSpPr>
      <p:grpSpPr>
        <a:xfrm>
          <a:off x="0" y="0"/>
          <a:ext cx="0" cy="0"/>
          <a:chOff x="0" y="0"/>
          <a:chExt cx="0" cy="0"/>
        </a:xfrm>
      </p:grpSpPr>
      <p:sp>
        <p:nvSpPr>
          <p:cNvPr id="2" name="Shape 0"/>
          <p:cNvSpPr/>
          <p:nvPr/>
        </p:nvSpPr>
        <p:spPr>
          <a:xfrm>
            <a:off x="5669280" y="1234440"/>
            <a:ext cx="822960" cy="822960"/>
          </a:xfrm>
          <a:prstGeom prst="ellipse">
            <a:avLst/>
          </a:prstGeom>
          <a:solidFill>
            <a:srgbClr val="D9534F"/>
          </a:solidFill>
          <a:ln/>
        </p:spPr>
      </p:sp>
      <p:sp>
        <p:nvSpPr>
          <p:cNvPr id="3" name="Text 1"/>
          <p:cNvSpPr/>
          <p:nvPr/>
        </p:nvSpPr>
        <p:spPr>
          <a:xfrm>
            <a:off x="5669280" y="1234440"/>
            <a:ext cx="822960" cy="82296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4" name="Text 2"/>
          <p:cNvSpPr/>
          <p:nvPr/>
        </p:nvSpPr>
        <p:spPr>
          <a:xfrm>
            <a:off x="502920" y="2331720"/>
            <a:ext cx="11155680" cy="73152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5" name="Text 3"/>
          <p:cNvSpPr/>
          <p:nvPr/>
        </p:nvSpPr>
        <p:spPr>
          <a:xfrm>
            <a:off x="502920" y="3063240"/>
            <a:ext cx="11155680" cy="411480"/>
          </a:xfrm>
          <a:prstGeom prst="rect">
            <a:avLst/>
          </a:prstGeom>
          <a:noFill/>
          <a:ln/>
        </p:spPr>
        <p:txBody>
          <a:bodyPr wrap="square" lIns="0" tIns="0" rIns="0" bIns="0" rtlCol="0" anchor="ctr"/>
          <a:lstStyle/>
          <a:p>
            <a:pPr algn="ctr" indent="0" marL="0">
              <a:buNone/>
            </a:pPr>
            <a:r>
              <a:rPr lang="en-US" sz="1600" i="1" dirty="0">
                <a:solidFill>
                  <a:srgbClr val="9FB3C4"/>
                </a:solidFill>
                <a:latin typeface="Calibri" pitchFamily="34" charset="0"/>
                <a:ea typeface="Calibri" pitchFamily="34" charset="-122"/>
                <a:cs typeface="Calibri" pitchFamily="34" charset="-120"/>
              </a:rPr>
              <a:t>Questions &amp; Feedback</a:t>
            </a:r>
            <a:endParaRPr lang="en-US" sz="1600" dirty="0"/>
          </a:p>
        </p:txBody>
      </p:sp>
      <p:sp>
        <p:nvSpPr>
          <p:cNvPr id="6" name="Shape 4"/>
          <p:cNvSpPr/>
          <p:nvPr/>
        </p:nvSpPr>
        <p:spPr>
          <a:xfrm>
            <a:off x="5257800" y="3749040"/>
            <a:ext cx="1645920" cy="0"/>
          </a:xfrm>
          <a:prstGeom prst="line">
            <a:avLst/>
          </a:prstGeom>
          <a:noFill/>
          <a:ln w="25400">
            <a:solidFill>
              <a:srgbClr val="2E8B57"/>
            </a:solidFill>
            <a:prstDash val="solid"/>
          </a:ln>
        </p:spPr>
      </p:sp>
      <p:sp>
        <p:nvSpPr>
          <p:cNvPr id="7" name="Text 5"/>
          <p:cNvSpPr/>
          <p:nvPr/>
        </p:nvSpPr>
        <p:spPr>
          <a:xfrm>
            <a:off x="502920" y="3977640"/>
            <a:ext cx="11155680" cy="274320"/>
          </a:xfrm>
          <a:prstGeom prst="rect">
            <a:avLst/>
          </a:prstGeom>
          <a:noFill/>
          <a:ln/>
        </p:spPr>
        <p:txBody>
          <a:bodyPr wrap="square" lIns="0" tIns="0" rIns="0" bIns="0" rtlCol="0" anchor="ctr"/>
          <a:lstStyle/>
          <a:p>
            <a:pPr algn="ctr" indent="0" marL="0">
              <a:buNone/>
            </a:pPr>
            <a:r>
              <a:rPr lang="en-US" sz="1200" dirty="0">
                <a:solidFill>
                  <a:srgbClr val="6F86A0"/>
                </a:solidFill>
                <a:latin typeface="Calibri" pitchFamily="34" charset="0"/>
                <a:ea typeface="Calibri" pitchFamily="34" charset="-122"/>
                <a:cs typeface="Calibri" pitchFamily="34" charset="-120"/>
              </a:rPr>
              <a:t>Prepared by</a:t>
            </a:r>
            <a:endParaRPr lang="en-US" sz="1200" dirty="0"/>
          </a:p>
        </p:txBody>
      </p:sp>
      <p:sp>
        <p:nvSpPr>
          <p:cNvPr id="8" name="Text 6"/>
          <p:cNvSpPr/>
          <p:nvPr/>
        </p:nvSpPr>
        <p:spPr>
          <a:xfrm>
            <a:off x="502920" y="4251960"/>
            <a:ext cx="11155680" cy="36576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Ijeoma Okeke</a:t>
            </a:r>
            <a:endParaRPr lang="en-US" sz="2000" dirty="0"/>
          </a:p>
        </p:txBody>
      </p:sp>
      <p:sp>
        <p:nvSpPr>
          <p:cNvPr id="9" name="Text 7"/>
          <p:cNvSpPr/>
          <p:nvPr/>
        </p:nvSpPr>
        <p:spPr>
          <a:xfrm>
            <a:off x="502920" y="4663440"/>
            <a:ext cx="11155680" cy="292608"/>
          </a:xfrm>
          <a:prstGeom prst="rect">
            <a:avLst/>
          </a:prstGeom>
          <a:noFill/>
          <a:ln/>
        </p:spPr>
        <p:txBody>
          <a:bodyPr wrap="square" lIns="0" tIns="0" rIns="0" bIns="0" rtlCol="0" anchor="ctr"/>
          <a:lstStyle/>
          <a:p>
            <a:pPr algn="ctr" indent="0" marL="0">
              <a:buNone/>
            </a:pPr>
            <a:r>
              <a:rPr lang="en-US" sz="1300" dirty="0">
                <a:solidFill>
                  <a:srgbClr val="9FB3C4"/>
                </a:solidFill>
                <a:latin typeface="Calibri" pitchFamily="34" charset="0"/>
                <a:ea typeface="Calibri" pitchFamily="34" charset="-122"/>
                <a:cs typeface="Calibri" pitchFamily="34" charset="-120"/>
              </a:rPr>
              <a:t>Healthcare Data Analyst</a:t>
            </a:r>
            <a:endParaRPr lang="en-US" sz="1300" dirty="0"/>
          </a:p>
        </p:txBody>
      </p:sp>
      <p:sp>
        <p:nvSpPr>
          <p:cNvPr id="10" name="Text 8"/>
          <p:cNvSpPr/>
          <p:nvPr/>
        </p:nvSpPr>
        <p:spPr>
          <a:xfrm>
            <a:off x="502920" y="5577840"/>
            <a:ext cx="11155680" cy="320040"/>
          </a:xfrm>
          <a:prstGeom prst="rect">
            <a:avLst/>
          </a:prstGeom>
          <a:noFill/>
          <a:ln/>
        </p:spPr>
        <p:txBody>
          <a:bodyPr wrap="square" lIns="0" tIns="0" rIns="0" bIns="0" rtlCol="0" anchor="ctr"/>
          <a:lstStyle/>
          <a:p>
            <a:pPr algn="ctr" indent="0" marL="0">
              <a:buNone/>
            </a:pPr>
            <a:r>
              <a:rPr lang="en-US" sz="1200" dirty="0">
                <a:solidFill>
                  <a:srgbClr val="3B82C4"/>
                </a:solidFill>
                <a:latin typeface="Calibri" pitchFamily="34" charset="0"/>
                <a:ea typeface="Calibri" pitchFamily="34" charset="-122"/>
                <a:cs typeface="Calibri" pitchFamily="34" charset="-120"/>
              </a:rPr>
              <a:t>LinkedIn   •   GitHub   •   Email</a:t>
            </a:r>
            <a:endParaRPr lang="en-US" sz="1200" dirty="0"/>
          </a:p>
        </p:txBody>
      </p:sp>
      <p:sp>
        <p:nvSpPr>
          <p:cNvPr id="11" name="Text 9"/>
          <p:cNvSpPr/>
          <p:nvPr/>
        </p:nvSpPr>
        <p:spPr>
          <a:xfrm>
            <a:off x="502920" y="5897880"/>
            <a:ext cx="11155680" cy="274320"/>
          </a:xfrm>
          <a:prstGeom prst="rect">
            <a:avLst/>
          </a:prstGeom>
          <a:noFill/>
          <a:ln/>
        </p:spPr>
        <p:txBody>
          <a:bodyPr wrap="square" lIns="0" tIns="0" rIns="0" bIns="0" rtlCol="0" anchor="ctr"/>
          <a:lstStyle/>
          <a:p>
            <a:pPr algn="ctr" indent="0" marL="0">
              <a:buNone/>
            </a:pPr>
            <a:r>
              <a:rPr lang="en-US" sz="1000" i="1" dirty="0">
                <a:solidFill>
                  <a:srgbClr val="5F7488"/>
                </a:solidFill>
                <a:latin typeface="Calibri" pitchFamily="34" charset="0"/>
                <a:ea typeface="Calibri" pitchFamily="34" charset="-122"/>
                <a:cs typeface="Calibri" pitchFamily="34" charset="-120"/>
              </a:rPr>
              <a:t>(add your links here)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2026-07-27T16:04:10Z</dcterms:created>
  <dcterms:modified xsi:type="dcterms:W3CDTF">2026-07-27T16:04:10Z</dcterms:modified>
</cp:coreProperties>
</file>